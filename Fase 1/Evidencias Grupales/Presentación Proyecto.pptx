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grandir" panose="020B0604020202020204" charset="0"/>
      <p:regular r:id="rId12"/>
    </p:embeddedFont>
    <p:embeddedFont>
      <p:font typeface="Agrandir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0" t="-2488" r="-2335" b="-196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97728" cy="10287000"/>
          </a:xfrm>
          <a:custGeom>
            <a:avLst/>
            <a:gdLst/>
            <a:ahLst/>
            <a:cxnLst/>
            <a:rect l="l" t="t" r="r" b="b"/>
            <a:pathLst>
              <a:path w="18297728" h="10287000">
                <a:moveTo>
                  <a:pt x="0" y="0"/>
                </a:moveTo>
                <a:lnTo>
                  <a:pt x="18297728" y="0"/>
                </a:lnTo>
                <a:lnTo>
                  <a:pt x="182977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54" t="-3732" r="-4852" b="-5474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7587963" y="1787152"/>
            <a:ext cx="1377135" cy="13771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87963" y="4276261"/>
            <a:ext cx="1377135" cy="13771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87963" y="6782134"/>
            <a:ext cx="1377135" cy="13771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86801" y="2226245"/>
            <a:ext cx="579460" cy="446908"/>
          </a:xfrm>
          <a:custGeom>
            <a:avLst/>
            <a:gdLst/>
            <a:ahLst/>
            <a:cxnLst/>
            <a:rect l="l" t="t" r="r" b="b"/>
            <a:pathLst>
              <a:path w="579460" h="446908">
                <a:moveTo>
                  <a:pt x="0" y="0"/>
                </a:moveTo>
                <a:lnTo>
                  <a:pt x="579460" y="0"/>
                </a:lnTo>
                <a:lnTo>
                  <a:pt x="579460" y="446908"/>
                </a:lnTo>
                <a:lnTo>
                  <a:pt x="0" y="44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7986801" y="4715354"/>
            <a:ext cx="579460" cy="446908"/>
          </a:xfrm>
          <a:custGeom>
            <a:avLst/>
            <a:gdLst/>
            <a:ahLst/>
            <a:cxnLst/>
            <a:rect l="l" t="t" r="r" b="b"/>
            <a:pathLst>
              <a:path w="579460" h="446908">
                <a:moveTo>
                  <a:pt x="0" y="0"/>
                </a:moveTo>
                <a:lnTo>
                  <a:pt x="579460" y="0"/>
                </a:lnTo>
                <a:lnTo>
                  <a:pt x="579460" y="446908"/>
                </a:lnTo>
                <a:lnTo>
                  <a:pt x="0" y="44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7986801" y="7269856"/>
            <a:ext cx="579460" cy="446908"/>
          </a:xfrm>
          <a:custGeom>
            <a:avLst/>
            <a:gdLst/>
            <a:ahLst/>
            <a:cxnLst/>
            <a:rect l="l" t="t" r="r" b="b"/>
            <a:pathLst>
              <a:path w="579460" h="446908">
                <a:moveTo>
                  <a:pt x="0" y="0"/>
                </a:moveTo>
                <a:lnTo>
                  <a:pt x="579460" y="0"/>
                </a:lnTo>
                <a:lnTo>
                  <a:pt x="579460" y="446909"/>
                </a:lnTo>
                <a:lnTo>
                  <a:pt x="0" y="446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9371989" y="1787152"/>
            <a:ext cx="8009891" cy="1627263"/>
            <a:chOff x="0" y="0"/>
            <a:chExt cx="10679855" cy="216968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76200"/>
              <a:ext cx="10679855" cy="612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Ley N°20.584 (Derechos del paciente)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23429"/>
              <a:ext cx="10679855" cy="154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 ficha clínica y los datos de salud son de propiedad exclusiva del paciente, no de la clínica o del hospital que los generó. El paciente tiene el derecho absoluto de acceder a ellos y portarlos.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75993" y="4276261"/>
            <a:ext cx="8005887" cy="2033097"/>
            <a:chOff x="0" y="0"/>
            <a:chExt cx="10674516" cy="2710796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76200"/>
              <a:ext cx="10674516" cy="115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Ley N° 21.668 (Interoperabilidad de Fichas Clínicas)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164541"/>
              <a:ext cx="10674516" cy="154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Ob</a:t>
              </a: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ligatoriedad de todos los prestadores de salud (públicos y privados) de compartir datos para garantizar la continuidad del cuidado.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75993" y="6834175"/>
            <a:ext cx="8005887" cy="2396212"/>
            <a:chOff x="0" y="0"/>
            <a:chExt cx="10674516" cy="319495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76200"/>
              <a:ext cx="10674516" cy="612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El Desafío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23429"/>
              <a:ext cx="10674516" cy="2571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7"/>
                </a:lnSpc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Hay una enorme brecha entre la exigencia de la ley y la realidad del sistema de salud. </a:t>
              </a:r>
            </a:p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Obligando a una transición urgente para conectar sistemas cerrados, incompatibles entre si y altamente dependientes del papel.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65180" y="1787152"/>
            <a:ext cx="6149799" cy="3868973"/>
            <a:chOff x="0" y="0"/>
            <a:chExt cx="8199732" cy="515863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114300"/>
              <a:ext cx="8199732" cy="921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Contexto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075792"/>
              <a:ext cx="8199732" cy="4082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0"/>
                </a:lnSpc>
              </a:pPr>
              <a:endParaRPr/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Pa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ra entender el origen de este proyecto, debemos mirar el escenario legal actual.</a:t>
              </a: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endParaRPr lang="en-US" sz="2000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Nuestro pr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oy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ecto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regirá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tr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ctamen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te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por dos nor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ma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tivas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fun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am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nt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al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es q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ue h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oy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están transforman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e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s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stem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d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 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alud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n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Ch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le</a:t>
              </a: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endParaRPr lang="en-US" sz="2000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0" t="-3685" r="-2125" b="-3070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7587963" y="1417783"/>
            <a:ext cx="1377135" cy="13771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87963" y="4276261"/>
            <a:ext cx="1377135" cy="13771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87963" y="7135724"/>
            <a:ext cx="1377135" cy="13771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851392" y="1660158"/>
            <a:ext cx="850279" cy="726989"/>
          </a:xfrm>
          <a:custGeom>
            <a:avLst/>
            <a:gdLst/>
            <a:ahLst/>
            <a:cxnLst/>
            <a:rect l="l" t="t" r="r" b="b"/>
            <a:pathLst>
              <a:path w="850279" h="726989">
                <a:moveTo>
                  <a:pt x="0" y="0"/>
                </a:moveTo>
                <a:lnTo>
                  <a:pt x="850279" y="0"/>
                </a:lnTo>
                <a:lnTo>
                  <a:pt x="850279" y="726989"/>
                </a:lnTo>
                <a:lnTo>
                  <a:pt x="0" y="72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9371989" y="1417783"/>
            <a:ext cx="8009891" cy="2011737"/>
            <a:chOff x="0" y="0"/>
            <a:chExt cx="10679855" cy="268231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76200"/>
              <a:ext cx="10679855" cy="612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Silos de Información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23429"/>
              <a:ext cx="10679855" cy="2058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Las instituciones médicas operan como islas desconectadas. Si un paciente se atiende en el sistema público y luego en una clínica privada, su historial no se transfiere, convirtiéndolo en un paciente "en blanco" para el nuevo médico.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75993" y="4276261"/>
            <a:ext cx="8005887" cy="2011737"/>
            <a:chOff x="0" y="0"/>
            <a:chExt cx="10674516" cy="2682317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76200"/>
              <a:ext cx="10674516" cy="612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La Carga sobre el Paciente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23429"/>
              <a:ext cx="10674516" cy="2058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Se </a:t>
              </a: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le delega al paciente la responsabilidad absoluta de custodiar, transportar y recordar su historial. Esto lo obliga a acarrear carpetas con exámenes, recetas en papel y radiografías a cada consulta.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75993" y="7187765"/>
            <a:ext cx="8005887" cy="2011737"/>
            <a:chOff x="0" y="0"/>
            <a:chExt cx="10674516" cy="2682317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76200"/>
              <a:ext cx="10674516" cy="612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Riesgo Clínico y Económico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23429"/>
              <a:ext cx="10674516" cy="2058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Esta falt</a:t>
              </a: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de información inmediata en el punto de atención genera diagnósticos imprecisos, errores de prescripción de medicamentos y obliga al paciente a gastar tiempo y dinero repitiendo exámenes que ya se habían realizado.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1105" y="2023653"/>
            <a:ext cx="5690269" cy="3707048"/>
            <a:chOff x="0" y="0"/>
            <a:chExt cx="7587025" cy="494273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114300"/>
              <a:ext cx="7587025" cy="1721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El Problema (La Fragmentación)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875892"/>
              <a:ext cx="7587025" cy="3066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pesa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 de las nuevas normativas, en la práctica nos enfrentamos a una realidad crítica.</a:t>
              </a: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endParaRPr lang="en-US" sz="2000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 profunda fragmentación del sistema de salud chileno.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7851392" y="4555141"/>
            <a:ext cx="850279" cy="726989"/>
          </a:xfrm>
          <a:custGeom>
            <a:avLst/>
            <a:gdLst/>
            <a:ahLst/>
            <a:cxnLst/>
            <a:rect l="l" t="t" r="r" b="b"/>
            <a:pathLst>
              <a:path w="850279" h="726989">
                <a:moveTo>
                  <a:pt x="0" y="0"/>
                </a:moveTo>
                <a:lnTo>
                  <a:pt x="850279" y="0"/>
                </a:lnTo>
                <a:lnTo>
                  <a:pt x="850279" y="726989"/>
                </a:lnTo>
                <a:lnTo>
                  <a:pt x="0" y="72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>
            <a:off x="7851392" y="7415522"/>
            <a:ext cx="850279" cy="726989"/>
          </a:xfrm>
          <a:custGeom>
            <a:avLst/>
            <a:gdLst/>
            <a:ahLst/>
            <a:cxnLst/>
            <a:rect l="l" t="t" r="r" b="b"/>
            <a:pathLst>
              <a:path w="850279" h="726989">
                <a:moveTo>
                  <a:pt x="0" y="0"/>
                </a:moveTo>
                <a:lnTo>
                  <a:pt x="850279" y="0"/>
                </a:lnTo>
                <a:lnTo>
                  <a:pt x="850279" y="726988"/>
                </a:lnTo>
                <a:lnTo>
                  <a:pt x="0" y="7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265"/>
            <a:ext cx="22522937" cy="12054476"/>
          </a:xfrm>
          <a:custGeom>
            <a:avLst/>
            <a:gdLst/>
            <a:ahLst/>
            <a:cxnLst/>
            <a:rect l="l" t="t" r="r" b="b"/>
            <a:pathLst>
              <a:path w="22522937" h="12054476">
                <a:moveTo>
                  <a:pt x="0" y="0"/>
                </a:moveTo>
                <a:lnTo>
                  <a:pt x="22522937" y="0"/>
                </a:lnTo>
                <a:lnTo>
                  <a:pt x="22522937" y="12054476"/>
                </a:lnTo>
                <a:lnTo>
                  <a:pt x="0" y="12054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7" b="-3927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374281" y="1244227"/>
            <a:ext cx="1377135" cy="13771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74281" y="4181483"/>
            <a:ext cx="1377135" cy="13771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74281" y="7732318"/>
            <a:ext cx="1377135" cy="13771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579953" y="5885446"/>
            <a:ext cx="3146187" cy="2878761"/>
          </a:xfrm>
          <a:custGeom>
            <a:avLst/>
            <a:gdLst/>
            <a:ahLst/>
            <a:cxnLst/>
            <a:rect l="l" t="t" r="r" b="b"/>
            <a:pathLst>
              <a:path w="3146187" h="2878761">
                <a:moveTo>
                  <a:pt x="0" y="0"/>
                </a:moveTo>
                <a:lnTo>
                  <a:pt x="3146187" y="0"/>
                </a:lnTo>
                <a:lnTo>
                  <a:pt x="3146187" y="2878761"/>
                </a:lnTo>
                <a:lnTo>
                  <a:pt x="0" y="2878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5327864" y="5774743"/>
            <a:ext cx="1612087" cy="3100167"/>
          </a:xfrm>
          <a:custGeom>
            <a:avLst/>
            <a:gdLst/>
            <a:ahLst/>
            <a:cxnLst/>
            <a:rect l="l" t="t" r="r" b="b"/>
            <a:pathLst>
              <a:path w="1612087" h="3100167">
                <a:moveTo>
                  <a:pt x="0" y="0"/>
                </a:moveTo>
                <a:lnTo>
                  <a:pt x="1612087" y="0"/>
                </a:lnTo>
                <a:lnTo>
                  <a:pt x="1612087" y="3100167"/>
                </a:lnTo>
                <a:lnTo>
                  <a:pt x="0" y="31001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775448" y="1472953"/>
            <a:ext cx="574801" cy="919682"/>
          </a:xfrm>
          <a:custGeom>
            <a:avLst/>
            <a:gdLst/>
            <a:ahLst/>
            <a:cxnLst/>
            <a:rect l="l" t="t" r="r" b="b"/>
            <a:pathLst>
              <a:path w="574801" h="919682">
                <a:moveTo>
                  <a:pt x="0" y="0"/>
                </a:moveTo>
                <a:lnTo>
                  <a:pt x="574801" y="0"/>
                </a:lnTo>
                <a:lnTo>
                  <a:pt x="574801" y="919683"/>
                </a:lnTo>
                <a:lnTo>
                  <a:pt x="0" y="919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2158306" y="1244227"/>
            <a:ext cx="8009891" cy="2417572"/>
            <a:chOff x="0" y="0"/>
            <a:chExt cx="10679855" cy="322342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76200"/>
              <a:ext cx="10679855" cy="115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Aplicación Web Progresiva (PWA) Centrada en el Paciente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64541"/>
              <a:ext cx="10679855" cy="2058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Un </a:t>
              </a: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sistema portátil y accesible desde cualquier dispositivo donde el paciente centraliza su historial. El paciente es quien otorga acceso temporal a cualquier médico para que visualice su información.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62310" y="4181483"/>
            <a:ext cx="8005887" cy="3186522"/>
            <a:chOff x="0" y="0"/>
            <a:chExt cx="10674516" cy="4248695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76200"/>
              <a:ext cx="10674516" cy="115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Innovación Tecnológica (OCR y Modelos de Lenguaje)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164541"/>
              <a:ext cx="10674516" cy="30841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Para resolver </a:t>
              </a: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 enorme dependencia del papel en los consultorios, implementamos un motor de Inteligencia Artificial propio. El paciente toma una foto de su receta o examen, y el sistema extrae automáticamente las entidades clave (medicamentos,</a:t>
              </a:r>
            </a:p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diagnósticos, etc) transformando papel inútil en data clínica estructurada.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62310" y="7784359"/>
            <a:ext cx="8005887" cy="2011737"/>
            <a:chOff x="0" y="0"/>
            <a:chExt cx="10674516" cy="2682317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76200"/>
              <a:ext cx="10674516" cy="612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Dashboards de Apoyo Clínico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23429"/>
              <a:ext cx="10674516" cy="2058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El</a:t>
              </a: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médico tratante, al recibir el acceso, visualizará un panel de control con diferentes KPIs relevantes, el historial estructurado cronológicamente, agilizando drásticamente el tiempo de diagnóstico.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739251" y="1191705"/>
            <a:ext cx="5690269" cy="3678346"/>
            <a:chOff x="0" y="0"/>
            <a:chExt cx="7587025" cy="4904461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114300"/>
              <a:ext cx="7587025" cy="1683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Nuestra Solución</a:t>
              </a:r>
            </a:p>
            <a:p>
              <a:pPr marL="0" lvl="1" indent="0" algn="l">
                <a:lnSpc>
                  <a:spcPts val="4522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(MyMedRecord)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837623"/>
              <a:ext cx="7587025" cy="3066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Desarrollar un MVP pa</a:t>
              </a: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ra la centralización del historial médico, incorporando IA para la estructuración de información clínica no digitalizada.</a:t>
              </a: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MyMedRecord, una plataforma que devuelve el historial clínico al bolsillo del paciente.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775448" y="4410209"/>
            <a:ext cx="574801" cy="919682"/>
          </a:xfrm>
          <a:custGeom>
            <a:avLst/>
            <a:gdLst/>
            <a:ahLst/>
            <a:cxnLst/>
            <a:rect l="l" t="t" r="r" b="b"/>
            <a:pathLst>
              <a:path w="574801" h="919682">
                <a:moveTo>
                  <a:pt x="0" y="0"/>
                </a:moveTo>
                <a:lnTo>
                  <a:pt x="574801" y="0"/>
                </a:lnTo>
                <a:lnTo>
                  <a:pt x="574801" y="919683"/>
                </a:lnTo>
                <a:lnTo>
                  <a:pt x="0" y="919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8" name="Freeform 28"/>
          <p:cNvSpPr/>
          <p:nvPr/>
        </p:nvSpPr>
        <p:spPr>
          <a:xfrm>
            <a:off x="775448" y="7961044"/>
            <a:ext cx="574801" cy="919682"/>
          </a:xfrm>
          <a:custGeom>
            <a:avLst/>
            <a:gdLst/>
            <a:ahLst/>
            <a:cxnLst/>
            <a:rect l="l" t="t" r="r" b="b"/>
            <a:pathLst>
              <a:path w="574801" h="919682">
                <a:moveTo>
                  <a:pt x="0" y="0"/>
                </a:moveTo>
                <a:lnTo>
                  <a:pt x="574801" y="0"/>
                </a:lnTo>
                <a:lnTo>
                  <a:pt x="574801" y="919683"/>
                </a:lnTo>
                <a:lnTo>
                  <a:pt x="0" y="919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265"/>
            <a:ext cx="22522937" cy="12054476"/>
          </a:xfrm>
          <a:custGeom>
            <a:avLst/>
            <a:gdLst/>
            <a:ahLst/>
            <a:cxnLst/>
            <a:rect l="l" t="t" r="r" b="b"/>
            <a:pathLst>
              <a:path w="22522937" h="12054476">
                <a:moveTo>
                  <a:pt x="0" y="0"/>
                </a:moveTo>
                <a:lnTo>
                  <a:pt x="22522937" y="0"/>
                </a:lnTo>
                <a:lnTo>
                  <a:pt x="22522937" y="12054476"/>
                </a:lnTo>
                <a:lnTo>
                  <a:pt x="0" y="12054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7" b="-3927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392447" y="2887102"/>
            <a:ext cx="408314" cy="473328"/>
            <a:chOff x="0" y="0"/>
            <a:chExt cx="701157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1157" cy="812800"/>
            </a:xfrm>
            <a:custGeom>
              <a:avLst/>
              <a:gdLst/>
              <a:ahLst/>
              <a:cxnLst/>
              <a:rect l="l" t="t" r="r" b="b"/>
              <a:pathLst>
                <a:path w="701157" h="812800">
                  <a:moveTo>
                    <a:pt x="350579" y="0"/>
                  </a:moveTo>
                  <a:cubicBezTo>
                    <a:pt x="156959" y="0"/>
                    <a:pt x="0" y="181951"/>
                    <a:pt x="0" y="406400"/>
                  </a:cubicBezTo>
                  <a:cubicBezTo>
                    <a:pt x="0" y="630849"/>
                    <a:pt x="156959" y="812800"/>
                    <a:pt x="350579" y="812800"/>
                  </a:cubicBezTo>
                  <a:cubicBezTo>
                    <a:pt x="544198" y="812800"/>
                    <a:pt x="701157" y="630849"/>
                    <a:pt x="701157" y="406400"/>
                  </a:cubicBezTo>
                  <a:cubicBezTo>
                    <a:pt x="701157" y="181951"/>
                    <a:pt x="544198" y="0"/>
                    <a:pt x="3505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5733" y="-28575"/>
              <a:ext cx="56969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85011" y="3628650"/>
            <a:ext cx="6909687" cy="4689673"/>
            <a:chOff x="0" y="0"/>
            <a:chExt cx="9212916" cy="6252897"/>
          </a:xfrm>
        </p:grpSpPr>
        <p:sp>
          <p:nvSpPr>
            <p:cNvPr id="7" name="TextBox 7"/>
            <p:cNvSpPr txBox="1"/>
            <p:nvPr/>
          </p:nvSpPr>
          <p:spPr>
            <a:xfrm>
              <a:off x="0" y="-76200"/>
              <a:ext cx="9212916" cy="115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6"/>
                </a:lnSpc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✅ INCLUYE</a:t>
              </a:r>
            </a:p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endParaRPr lang="en-US" sz="26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64541"/>
              <a:ext cx="9212916" cy="5088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Registro de pacientes y médicos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Carga de fotos de recetas y exámenes (2 tipos)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Extracción de datos clave con IA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Visualización de KPIs básicos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Corrección manual por usuario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84561" y="710495"/>
            <a:ext cx="7930692" cy="1201973"/>
            <a:chOff x="0" y="0"/>
            <a:chExt cx="10574256" cy="160263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14300"/>
              <a:ext cx="10574256" cy="921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ALCANCE DEL MVP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5792"/>
              <a:ext cx="7587025" cy="526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25884" y="1394274"/>
            <a:ext cx="5392192" cy="130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6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¿Qué incluye nuestro prototipo?</a:t>
            </a:r>
          </a:p>
          <a:p>
            <a:pPr algn="l">
              <a:lnSpc>
                <a:spcPts val="3256"/>
              </a:lnSpc>
              <a:spcBef>
                <a:spcPct val="0"/>
              </a:spcBef>
            </a:pPr>
            <a:endParaRPr lang="en-US" sz="2690" b="1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3256"/>
              </a:lnSpc>
              <a:spcBef>
                <a:spcPct val="0"/>
              </a:spcBef>
            </a:pPr>
            <a:endParaRPr lang="en-US" sz="2690" b="1">
              <a:solidFill>
                <a:srgbClr val="FFFFF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9393302" y="3628650"/>
            <a:ext cx="6909687" cy="5070673"/>
            <a:chOff x="0" y="0"/>
            <a:chExt cx="9212916" cy="676089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76200"/>
              <a:ext cx="9212916" cy="115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6"/>
                </a:lnSpc>
              </a:pPr>
              <a:r>
                <a:rPr lang="en-US" sz="269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⬆️ A FUTURO</a:t>
              </a:r>
            </a:p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endParaRPr lang="en-US" sz="269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164541"/>
              <a:ext cx="9212916" cy="5596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Integración directa con clínicas vía API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Todos los tipos de documentos médicos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Historial clínico completo con años de datos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Recomendaciones médicas automatizadas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marL="435739" lvl="1" indent="-217869" algn="l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Recomendaciones médicas automatizadas</a:t>
              </a: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  <a:p>
              <a:pPr algn="l">
                <a:lnSpc>
                  <a:spcPts val="3047"/>
                </a:lnSpc>
              </a:pPr>
              <a:endParaRPr lang="en-US" sz="201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8" t="-3157" r="-1621" b="-3157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6972245" y="550973"/>
            <a:ext cx="3706540" cy="1523238"/>
            <a:chOff x="0" y="0"/>
            <a:chExt cx="976208" cy="4011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6208" cy="401182"/>
            </a:xfrm>
            <a:custGeom>
              <a:avLst/>
              <a:gdLst/>
              <a:ahLst/>
              <a:cxnLst/>
              <a:rect l="l" t="t" r="r" b="b"/>
              <a:pathLst>
                <a:path w="976208" h="401182">
                  <a:moveTo>
                    <a:pt x="106525" y="0"/>
                  </a:moveTo>
                  <a:lnTo>
                    <a:pt x="869683" y="0"/>
                  </a:lnTo>
                  <a:cubicBezTo>
                    <a:pt x="928515" y="0"/>
                    <a:pt x="976208" y="47693"/>
                    <a:pt x="976208" y="106525"/>
                  </a:cubicBezTo>
                  <a:lnTo>
                    <a:pt x="976208" y="294657"/>
                  </a:lnTo>
                  <a:cubicBezTo>
                    <a:pt x="976208" y="353489"/>
                    <a:pt x="928515" y="401182"/>
                    <a:pt x="869683" y="401182"/>
                  </a:cubicBezTo>
                  <a:lnTo>
                    <a:pt x="106525" y="401182"/>
                  </a:lnTo>
                  <a:cubicBezTo>
                    <a:pt x="78273" y="401182"/>
                    <a:pt x="51178" y="389959"/>
                    <a:pt x="31200" y="369982"/>
                  </a:cubicBezTo>
                  <a:cubicBezTo>
                    <a:pt x="11223" y="350004"/>
                    <a:pt x="0" y="322909"/>
                    <a:pt x="0" y="294657"/>
                  </a:cubicBezTo>
                  <a:lnTo>
                    <a:pt x="0" y="106525"/>
                  </a:lnTo>
                  <a:cubicBezTo>
                    <a:pt x="0" y="78273"/>
                    <a:pt x="11223" y="51178"/>
                    <a:pt x="31200" y="31200"/>
                  </a:cubicBezTo>
                  <a:cubicBezTo>
                    <a:pt x="51178" y="11223"/>
                    <a:pt x="78273" y="0"/>
                    <a:pt x="1065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76208" cy="505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Factibilidad y Alcance </a:t>
              </a:r>
            </a:p>
            <a:p>
              <a:pPr algn="ctr">
                <a:lnSpc>
                  <a:spcPts val="2800"/>
                </a:lnSpc>
              </a:pPr>
              <a:endParaRPr lang="en-US" sz="20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7569" y="3457403"/>
            <a:ext cx="3219051" cy="1531070"/>
            <a:chOff x="0" y="-104775"/>
            <a:chExt cx="847816" cy="4032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7816" cy="217528"/>
            </a:xfrm>
            <a:custGeom>
              <a:avLst/>
              <a:gdLst/>
              <a:ahLst/>
              <a:cxnLst/>
              <a:rect l="l" t="t" r="r" b="b"/>
              <a:pathLst>
                <a:path w="847816" h="217528">
                  <a:moveTo>
                    <a:pt x="108764" y="0"/>
                  </a:moveTo>
                  <a:lnTo>
                    <a:pt x="739052" y="0"/>
                  </a:lnTo>
                  <a:cubicBezTo>
                    <a:pt x="799121" y="0"/>
                    <a:pt x="847816" y="48695"/>
                    <a:pt x="847816" y="108764"/>
                  </a:cubicBezTo>
                  <a:lnTo>
                    <a:pt x="847816" y="108764"/>
                  </a:lnTo>
                  <a:cubicBezTo>
                    <a:pt x="847816" y="168833"/>
                    <a:pt x="799121" y="217528"/>
                    <a:pt x="739052" y="217528"/>
                  </a:cubicBezTo>
                  <a:lnTo>
                    <a:pt x="108764" y="217528"/>
                  </a:lnTo>
                  <a:cubicBezTo>
                    <a:pt x="48695" y="217528"/>
                    <a:pt x="0" y="168833"/>
                    <a:pt x="0" y="108764"/>
                  </a:cubicBezTo>
                  <a:lnTo>
                    <a:pt x="0" y="108764"/>
                  </a:lnTo>
                  <a:cubicBezTo>
                    <a:pt x="0" y="48695"/>
                    <a:pt x="48695" y="0"/>
                    <a:pt x="1087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847816" cy="403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 dirty="0" err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Factibilidad</a:t>
              </a:r>
              <a:r>
                <a:rPr lang="en-US" sz="20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Técnica y Financiera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2964" y="5796394"/>
            <a:ext cx="3999339" cy="2851137"/>
            <a:chOff x="0" y="0"/>
            <a:chExt cx="1053324" cy="750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3324" cy="750917"/>
            </a:xfrm>
            <a:custGeom>
              <a:avLst/>
              <a:gdLst/>
              <a:ahLst/>
              <a:cxnLst/>
              <a:rect l="l" t="t" r="r" b="b"/>
              <a:pathLst>
                <a:path w="1053324" h="750917">
                  <a:moveTo>
                    <a:pt x="98726" y="0"/>
                  </a:moveTo>
                  <a:lnTo>
                    <a:pt x="954598" y="0"/>
                  </a:lnTo>
                  <a:cubicBezTo>
                    <a:pt x="1009123" y="0"/>
                    <a:pt x="1053324" y="44201"/>
                    <a:pt x="1053324" y="98726"/>
                  </a:cubicBezTo>
                  <a:lnTo>
                    <a:pt x="1053324" y="652191"/>
                  </a:lnTo>
                  <a:cubicBezTo>
                    <a:pt x="1053324" y="706716"/>
                    <a:pt x="1009123" y="750917"/>
                    <a:pt x="954598" y="750917"/>
                  </a:cubicBezTo>
                  <a:lnTo>
                    <a:pt x="98726" y="750917"/>
                  </a:lnTo>
                  <a:cubicBezTo>
                    <a:pt x="72542" y="750917"/>
                    <a:pt x="47431" y="740515"/>
                    <a:pt x="28916" y="722001"/>
                  </a:cubicBezTo>
                  <a:cubicBezTo>
                    <a:pt x="10401" y="703486"/>
                    <a:pt x="0" y="678375"/>
                    <a:pt x="0" y="652191"/>
                  </a:cubicBezTo>
                  <a:lnTo>
                    <a:pt x="0" y="98726"/>
                  </a:lnTo>
                  <a:cubicBezTo>
                    <a:pt x="0" y="44201"/>
                    <a:pt x="44201" y="0"/>
                    <a:pt x="98726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053324" cy="82711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El proyecto es totalmente viable al ser construido sobre una arquitectura moderna basada en tecnologías Open Source (React, Node.js, Python, PostgreSQL) y orquestado mediante contenedores Docker, sin requerir licencias costosas.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46975" y="5796394"/>
            <a:ext cx="3996214" cy="3152204"/>
            <a:chOff x="0" y="0"/>
            <a:chExt cx="1052501" cy="8302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2501" cy="830210"/>
            </a:xfrm>
            <a:custGeom>
              <a:avLst/>
              <a:gdLst/>
              <a:ahLst/>
              <a:cxnLst/>
              <a:rect l="l" t="t" r="r" b="b"/>
              <a:pathLst>
                <a:path w="1052501" h="830210">
                  <a:moveTo>
                    <a:pt x="98803" y="0"/>
                  </a:moveTo>
                  <a:lnTo>
                    <a:pt x="953698" y="0"/>
                  </a:lnTo>
                  <a:cubicBezTo>
                    <a:pt x="1008265" y="0"/>
                    <a:pt x="1052501" y="44236"/>
                    <a:pt x="1052501" y="98803"/>
                  </a:cubicBezTo>
                  <a:lnTo>
                    <a:pt x="1052501" y="731407"/>
                  </a:lnTo>
                  <a:cubicBezTo>
                    <a:pt x="1052501" y="757611"/>
                    <a:pt x="1042091" y="782742"/>
                    <a:pt x="1023562" y="801271"/>
                  </a:cubicBezTo>
                  <a:cubicBezTo>
                    <a:pt x="1005033" y="819800"/>
                    <a:pt x="979902" y="830210"/>
                    <a:pt x="953698" y="830210"/>
                  </a:cubicBezTo>
                  <a:lnTo>
                    <a:pt x="98803" y="830210"/>
                  </a:lnTo>
                  <a:cubicBezTo>
                    <a:pt x="72599" y="830210"/>
                    <a:pt x="47468" y="819800"/>
                    <a:pt x="28939" y="801271"/>
                  </a:cubicBezTo>
                  <a:cubicBezTo>
                    <a:pt x="10410" y="782742"/>
                    <a:pt x="0" y="757611"/>
                    <a:pt x="0" y="731407"/>
                  </a:cubicBezTo>
                  <a:lnTo>
                    <a:pt x="0" y="98803"/>
                  </a:lnTo>
                  <a:cubicBezTo>
                    <a:pt x="0" y="72599"/>
                    <a:pt x="10410" y="47468"/>
                    <a:pt x="28939" y="28939"/>
                  </a:cubicBezTo>
                  <a:cubicBezTo>
                    <a:pt x="47468" y="10410"/>
                    <a:pt x="72599" y="0"/>
                    <a:pt x="9880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052501" cy="906410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Comprendemos que la variabilidad de la "letra de médico" manuscrita presenta un alto riesgo de falsos positivos. Por ello, el alcance de nuestro MVP acotará el procesamiento de imágenes estrictamente a recetas impresas y exámenes tipografiados de laboratorio.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45627" y="5796394"/>
            <a:ext cx="3999339" cy="3146412"/>
            <a:chOff x="0" y="0"/>
            <a:chExt cx="1053324" cy="8286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3324" cy="828685"/>
            </a:xfrm>
            <a:custGeom>
              <a:avLst/>
              <a:gdLst/>
              <a:ahLst/>
              <a:cxnLst/>
              <a:rect l="l" t="t" r="r" b="b"/>
              <a:pathLst>
                <a:path w="1053324" h="828685">
                  <a:moveTo>
                    <a:pt x="98726" y="0"/>
                  </a:moveTo>
                  <a:lnTo>
                    <a:pt x="954598" y="0"/>
                  </a:lnTo>
                  <a:cubicBezTo>
                    <a:pt x="1009123" y="0"/>
                    <a:pt x="1053324" y="44201"/>
                    <a:pt x="1053324" y="98726"/>
                  </a:cubicBezTo>
                  <a:lnTo>
                    <a:pt x="1053324" y="729959"/>
                  </a:lnTo>
                  <a:cubicBezTo>
                    <a:pt x="1053324" y="784484"/>
                    <a:pt x="1009123" y="828685"/>
                    <a:pt x="954598" y="828685"/>
                  </a:cubicBezTo>
                  <a:lnTo>
                    <a:pt x="98726" y="828685"/>
                  </a:lnTo>
                  <a:cubicBezTo>
                    <a:pt x="44201" y="828685"/>
                    <a:pt x="0" y="784484"/>
                    <a:pt x="0" y="729959"/>
                  </a:cubicBezTo>
                  <a:lnTo>
                    <a:pt x="0" y="98726"/>
                  </a:lnTo>
                  <a:cubicBezTo>
                    <a:pt x="0" y="44201"/>
                    <a:pt x="44201" y="0"/>
                    <a:pt x="98726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053324" cy="904885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Para garantizar la integridad y seguridad de la información médica, ningún dato extraído por la Inteligencia Artificial se guardará automáticamente. El sistema siempre requerirá que el paciente revise y confirme los datos extraídos en pantalla antes de registrarlos en su historial.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11670" y="3431218"/>
            <a:ext cx="3219051" cy="1921057"/>
            <a:chOff x="0" y="-104775"/>
            <a:chExt cx="847816" cy="5059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7816" cy="308362"/>
            </a:xfrm>
            <a:custGeom>
              <a:avLst/>
              <a:gdLst/>
              <a:ahLst/>
              <a:cxnLst/>
              <a:rect l="l" t="t" r="r" b="b"/>
              <a:pathLst>
                <a:path w="847816" h="308362">
                  <a:moveTo>
                    <a:pt x="122657" y="0"/>
                  </a:moveTo>
                  <a:lnTo>
                    <a:pt x="725159" y="0"/>
                  </a:lnTo>
                  <a:cubicBezTo>
                    <a:pt x="792901" y="0"/>
                    <a:pt x="847816" y="54915"/>
                    <a:pt x="847816" y="122657"/>
                  </a:cubicBezTo>
                  <a:lnTo>
                    <a:pt x="847816" y="185706"/>
                  </a:lnTo>
                  <a:cubicBezTo>
                    <a:pt x="847816" y="253447"/>
                    <a:pt x="792901" y="308362"/>
                    <a:pt x="725159" y="308362"/>
                  </a:cubicBezTo>
                  <a:lnTo>
                    <a:pt x="122657" y="308362"/>
                  </a:lnTo>
                  <a:cubicBezTo>
                    <a:pt x="54915" y="308362"/>
                    <a:pt x="0" y="253447"/>
                    <a:pt x="0" y="185706"/>
                  </a:cubicBezTo>
                  <a:lnTo>
                    <a:pt x="0" y="122657"/>
                  </a:lnTo>
                  <a:cubicBezTo>
                    <a:pt x="0" y="54915"/>
                    <a:pt x="54915" y="0"/>
                    <a:pt x="1226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847816" cy="505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 dirty="0" err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Restricciones</a:t>
              </a:r>
              <a:r>
                <a:rPr lang="en-US" sz="20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de la </a:t>
              </a:r>
              <a:r>
                <a:rPr lang="en-US" sz="2000" b="1" dirty="0" err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Inteligencia</a:t>
              </a:r>
              <a:r>
                <a:rPr lang="en-US" sz="20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Artificial (</a:t>
              </a:r>
              <a:r>
                <a:rPr lang="en-US" sz="2000" b="1" dirty="0" err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Manejo</a:t>
              </a:r>
              <a:r>
                <a:rPr lang="en-US" sz="20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de </a:t>
              </a:r>
              <a:r>
                <a:rPr lang="en-US" sz="2000" b="1" dirty="0" err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Riesgos</a:t>
              </a:r>
              <a:r>
                <a:rPr lang="en-US" sz="20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35771" y="3431219"/>
            <a:ext cx="3219051" cy="1557253"/>
            <a:chOff x="0" y="-104775"/>
            <a:chExt cx="847816" cy="4101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7816" cy="217528"/>
            </a:xfrm>
            <a:custGeom>
              <a:avLst/>
              <a:gdLst/>
              <a:ahLst/>
              <a:cxnLst/>
              <a:rect l="l" t="t" r="r" b="b"/>
              <a:pathLst>
                <a:path w="847816" h="217528">
                  <a:moveTo>
                    <a:pt x="108764" y="0"/>
                  </a:moveTo>
                  <a:lnTo>
                    <a:pt x="739052" y="0"/>
                  </a:lnTo>
                  <a:cubicBezTo>
                    <a:pt x="799121" y="0"/>
                    <a:pt x="847816" y="48695"/>
                    <a:pt x="847816" y="108764"/>
                  </a:cubicBezTo>
                  <a:lnTo>
                    <a:pt x="847816" y="108764"/>
                  </a:lnTo>
                  <a:cubicBezTo>
                    <a:pt x="847816" y="168833"/>
                    <a:pt x="799121" y="217528"/>
                    <a:pt x="739052" y="217528"/>
                  </a:cubicBezTo>
                  <a:lnTo>
                    <a:pt x="108764" y="217528"/>
                  </a:lnTo>
                  <a:cubicBezTo>
                    <a:pt x="48695" y="217528"/>
                    <a:pt x="0" y="168833"/>
                    <a:pt x="0" y="108764"/>
                  </a:cubicBezTo>
                  <a:lnTo>
                    <a:pt x="0" y="108764"/>
                  </a:lnTo>
                  <a:cubicBezTo>
                    <a:pt x="0" y="48695"/>
                    <a:pt x="48695" y="0"/>
                    <a:pt x="1087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04775"/>
              <a:ext cx="847816" cy="410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Sistema de </a:t>
              </a:r>
              <a:r>
                <a:rPr lang="en-US" sz="2000" b="1" dirty="0" err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Validación</a:t>
              </a:r>
              <a:r>
                <a:rPr lang="en-US" sz="2000" b="1" dirty="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"Human-in-the-Loop"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92634" y="1312592"/>
            <a:ext cx="3679611" cy="2516444"/>
          </a:xfrm>
          <a:custGeom>
            <a:avLst/>
            <a:gdLst/>
            <a:ahLst/>
            <a:cxnLst/>
            <a:rect l="l" t="t" r="r" b="b"/>
            <a:pathLst>
              <a:path w="3679611" h="2516444">
                <a:moveTo>
                  <a:pt x="3679611" y="0"/>
                </a:moveTo>
                <a:lnTo>
                  <a:pt x="228600" y="0"/>
                </a:lnTo>
                <a:cubicBezTo>
                  <a:pt x="102347" y="0"/>
                  <a:pt x="0" y="102347"/>
                  <a:pt x="0" y="228600"/>
                </a:cubicBezTo>
                <a:lnTo>
                  <a:pt x="0" y="2516444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>
            <a:off x="8821195" y="2074211"/>
            <a:ext cx="4320" cy="1754825"/>
          </a:xfrm>
          <a:custGeom>
            <a:avLst/>
            <a:gdLst/>
            <a:ahLst/>
            <a:cxnLst/>
            <a:rect l="l" t="t" r="r" b="b"/>
            <a:pathLst>
              <a:path w="4320" h="1754825">
                <a:moveTo>
                  <a:pt x="0" y="1754825"/>
                </a:moveTo>
                <a:lnTo>
                  <a:pt x="0" y="879572"/>
                </a:lnTo>
                <a:cubicBezTo>
                  <a:pt x="0" y="878999"/>
                  <a:pt x="228" y="878450"/>
                  <a:pt x="632" y="878045"/>
                </a:cubicBezTo>
                <a:cubicBezTo>
                  <a:pt x="1038" y="877640"/>
                  <a:pt x="1587" y="877412"/>
                  <a:pt x="2160" y="877412"/>
                </a:cubicBezTo>
                <a:lnTo>
                  <a:pt x="2160" y="877412"/>
                </a:lnTo>
                <a:cubicBezTo>
                  <a:pt x="2733" y="877412"/>
                  <a:pt x="3282" y="877185"/>
                  <a:pt x="3687" y="876780"/>
                </a:cubicBezTo>
                <a:cubicBezTo>
                  <a:pt x="4092" y="876375"/>
                  <a:pt x="4320" y="875825"/>
                  <a:pt x="4320" y="875252"/>
                </a:cubicBezTo>
                <a:lnTo>
                  <a:pt x="4320" y="0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>
            <a:off x="10678785" y="1312592"/>
            <a:ext cx="3666511" cy="2516444"/>
          </a:xfrm>
          <a:custGeom>
            <a:avLst/>
            <a:gdLst/>
            <a:ahLst/>
            <a:cxnLst/>
            <a:rect l="l" t="t" r="r" b="b"/>
            <a:pathLst>
              <a:path w="3666511" h="2516444">
                <a:moveTo>
                  <a:pt x="0" y="0"/>
                </a:moveTo>
                <a:lnTo>
                  <a:pt x="3437911" y="0"/>
                </a:lnTo>
                <a:cubicBezTo>
                  <a:pt x="3564164" y="0"/>
                  <a:pt x="3666511" y="102347"/>
                  <a:pt x="3666511" y="228600"/>
                </a:cubicBezTo>
                <a:lnTo>
                  <a:pt x="3666511" y="2516444"/>
                </a:lnTo>
              </a:path>
            </a:pathLst>
          </a:cu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7" name="AutoShape 27"/>
          <p:cNvSpPr/>
          <p:nvPr/>
        </p:nvSpPr>
        <p:spPr>
          <a:xfrm>
            <a:off x="3292633" y="4654962"/>
            <a:ext cx="0" cy="114143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8" name="AutoShape 28"/>
          <p:cNvSpPr/>
          <p:nvPr/>
        </p:nvSpPr>
        <p:spPr>
          <a:xfrm>
            <a:off x="8821195" y="4999849"/>
            <a:ext cx="23886" cy="7965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9" name="AutoShape 29"/>
          <p:cNvSpPr/>
          <p:nvPr/>
        </p:nvSpPr>
        <p:spPr>
          <a:xfrm flipV="1">
            <a:off x="14345297" y="4654962"/>
            <a:ext cx="0" cy="114143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8" t="-3157" r="-1621" b="-315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>
            <a:off x="2672349" y="4566734"/>
            <a:ext cx="0" cy="133155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15595197" y="4566734"/>
            <a:ext cx="28" cy="133155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AutoShape 5"/>
          <p:cNvSpPr/>
          <p:nvPr/>
        </p:nvSpPr>
        <p:spPr>
          <a:xfrm flipH="1">
            <a:off x="9145268" y="4588420"/>
            <a:ext cx="0" cy="130987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 flipV="1">
            <a:off x="2620040" y="4607470"/>
            <a:ext cx="12975157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/>
          <p:cNvSpPr/>
          <p:nvPr/>
        </p:nvSpPr>
        <p:spPr>
          <a:xfrm flipH="1" flipV="1">
            <a:off x="9130298" y="3739956"/>
            <a:ext cx="10889" cy="101375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143684" y="1028700"/>
            <a:ext cx="2544645" cy="2544645"/>
          </a:xfrm>
          <a:custGeom>
            <a:avLst/>
            <a:gdLst/>
            <a:ahLst/>
            <a:cxnLst/>
            <a:rect l="l" t="t" r="r" b="b"/>
            <a:pathLst>
              <a:path w="2544645" h="2544645">
                <a:moveTo>
                  <a:pt x="0" y="0"/>
                </a:moveTo>
                <a:lnTo>
                  <a:pt x="2544645" y="0"/>
                </a:lnTo>
                <a:lnTo>
                  <a:pt x="2544645" y="2544645"/>
                </a:lnTo>
                <a:lnTo>
                  <a:pt x="0" y="2544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3042030" y="132744"/>
            <a:ext cx="4892007" cy="4308853"/>
          </a:xfrm>
          <a:custGeom>
            <a:avLst/>
            <a:gdLst/>
            <a:ahLst/>
            <a:cxnLst/>
            <a:rect l="l" t="t" r="r" b="b"/>
            <a:pathLst>
              <a:path w="4892007" h="4308853">
                <a:moveTo>
                  <a:pt x="0" y="0"/>
                </a:moveTo>
                <a:lnTo>
                  <a:pt x="4892006" y="0"/>
                </a:lnTo>
                <a:lnTo>
                  <a:pt x="4892006" y="4308853"/>
                </a:lnTo>
                <a:lnTo>
                  <a:pt x="0" y="4308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683829" y="6170393"/>
            <a:ext cx="4274713" cy="3065527"/>
            <a:chOff x="0" y="0"/>
            <a:chExt cx="5699617" cy="408736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85725"/>
              <a:ext cx="5080000" cy="1299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29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Product Owner (Ariel Velásquez)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9859" y="1429260"/>
              <a:ext cx="5529758" cy="26581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629"/>
                </a:lnSpc>
                <a:spcBef>
                  <a:spcPct val="0"/>
                </a:spcBef>
              </a:pPr>
              <a:r>
                <a:rPr lang="en-US" sz="1741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Responsable de la visión del producto. Se encargará de gestionar el Product Backlog, priorizar los requerimientos que entreguen mayor valor al paciente y validar los incrementos entregados en cada Sprint.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242172" y="6186317"/>
            <a:ext cx="4365444" cy="2988812"/>
            <a:chOff x="0" y="0"/>
            <a:chExt cx="5820592" cy="3985082"/>
          </a:xfrm>
        </p:grpSpPr>
        <p:sp>
          <p:nvSpPr>
            <p:cNvPr id="14" name="TextBox 14"/>
            <p:cNvSpPr txBox="1"/>
            <p:nvPr/>
          </p:nvSpPr>
          <p:spPr>
            <a:xfrm>
              <a:off x="148626" y="-85725"/>
              <a:ext cx="5077461" cy="1299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29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Scrum Master (Sergio Vera)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525897"/>
              <a:ext cx="5820592" cy="24591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15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Encargad</a:t>
              </a:r>
              <a:r>
                <a:rPr lang="en-US" sz="1599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 de asegurar el cumplimiento de los principios ágiles. Facilitará las ceremonias de Scrum (Dailies, Plannings, Retrospectives) y actuará como escudo protector para eliminar bloqueos técnicos u operativos del equipo.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515890" y="6170393"/>
            <a:ext cx="4418147" cy="2644056"/>
            <a:chOff x="0" y="0"/>
            <a:chExt cx="5890862" cy="3525408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85725"/>
              <a:ext cx="5077461" cy="1299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29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Developer Principal (Ignacio Ruiz)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622533"/>
              <a:ext cx="5890862" cy="1902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3"/>
                </a:lnSpc>
                <a:spcBef>
                  <a:spcPct val="0"/>
                </a:spcBef>
              </a:pPr>
              <a:r>
                <a:rPr lang="en-US" sz="1856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</a:t>
              </a:r>
              <a:r>
                <a:rPr lang="en-US" sz="1856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esponsable del liderazgo técnico. Encargado de la definición inicial del código, diseño de la arquitectura y la base de datos.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192611" y="964478"/>
            <a:ext cx="6415005" cy="65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7"/>
              </a:lnSpc>
              <a:spcBef>
                <a:spcPct val="0"/>
              </a:spcBef>
            </a:pPr>
            <a:r>
              <a:rPr lang="en-US" sz="37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Metodología Ágil (Scrum)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30790" y="1674809"/>
            <a:ext cx="8394278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1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El desa</a:t>
            </a:r>
            <a:r>
              <a:rPr lang="en-US" sz="1999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rrollo se gestionará mediante la metodología Scrum con iteraciones (Sprints) semanales, permitiendo adaptación temprana a cambios, entregas continuas de software funcional y un control riguroso de los tiempos durante las 18 semanas del proyecto.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8" t="-3157" r="-1621" b="-3157"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3" name="Object 3"/>
          <p:cNvGraphicFramePr/>
          <p:nvPr/>
        </p:nvGraphicFramePr>
        <p:xfrm>
          <a:off x="1225886" y="1572516"/>
          <a:ext cx="15769565" cy="6869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8923000" imgH="10020300" progId="Excel.Sheet.12">
                  <p:embed/>
                </p:oleObj>
              </mc:Choice>
              <mc:Fallback>
                <p:oleObj name="Worksheet" r:id="rId3" imgW="18923000" imgH="10020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5886" y="1572516"/>
                        <a:ext cx="15769565" cy="6869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936497" y="368824"/>
            <a:ext cx="6415005" cy="65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7"/>
              </a:lnSpc>
              <a:spcBef>
                <a:spcPct val="0"/>
              </a:spcBef>
            </a:pPr>
            <a:r>
              <a:rPr lang="en-US" sz="37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PLAN DE TRABAJO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0" t="-3685" r="-2125" b="-3070"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3" y="1276394"/>
            <a:ext cx="7048997" cy="10432369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056425" y="1981459"/>
            <a:ext cx="9519701" cy="6240960"/>
            <a:chOff x="0" y="0"/>
            <a:chExt cx="12692935" cy="8321280"/>
          </a:xfrm>
        </p:grpSpPr>
        <p:sp>
          <p:nvSpPr>
            <p:cNvPr id="5" name="TextBox 5"/>
            <p:cNvSpPr txBox="1"/>
            <p:nvPr/>
          </p:nvSpPr>
          <p:spPr>
            <a:xfrm>
              <a:off x="0" y="-76200"/>
              <a:ext cx="12692935" cy="612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6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23429"/>
              <a:ext cx="12692935" cy="7697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endParaRPr/>
            </a:p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MyMedRecord nace como una respuesta concreta a la fragmentación de la información clínica en Chile, un problema que afecta directamente la calidad de vida de los pacientes y la eficiencia del sistema de salud.</a:t>
              </a:r>
            </a:p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través de la integración de tecnologías de vanguardia como la Inteligencia Artificial (OCR + LLM), el proyecto demuestra que es posible:</a:t>
              </a:r>
            </a:p>
            <a:p>
              <a:pPr marL="435738" lvl="1" indent="-217869" algn="l">
                <a:lnSpc>
                  <a:spcPts val="304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Ayudar al paciente, devolviéndole el control sobre su historial médico</a:t>
              </a:r>
            </a:p>
            <a:p>
              <a:pPr marL="435738" lvl="1" indent="-217869" algn="l">
                <a:lnSpc>
                  <a:spcPts val="304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Centralizar información dispersa de múltiples instituciones</a:t>
              </a:r>
            </a:p>
            <a:p>
              <a:pPr marL="435738" lvl="1" indent="-217869" algn="l">
                <a:lnSpc>
                  <a:spcPts val="304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Digitalizar documentos físicos de forma automatizada y estructurada</a:t>
              </a:r>
            </a:p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El enfoque realista y acotado del MVP, sumado a una metodología ágil (Scrum) y un equipo multidisciplinario, garantiza la viabilidad técnica y temporal del proyecto</a:t>
              </a:r>
            </a:p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r>
                <a:rPr lang="en-US" sz="2018" u="none" strike="noStrik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MyMedRecord no es solo una aplicación; es una solución con impacto social, alineada con las políticas de interoperabilidad del sistema de salud chileno </a:t>
              </a:r>
            </a:p>
            <a:p>
              <a:pPr marL="0" lvl="0" indent="0" algn="l">
                <a:lnSpc>
                  <a:spcPts val="3047"/>
                </a:lnSpc>
                <a:spcBef>
                  <a:spcPct val="0"/>
                </a:spcBef>
              </a:pPr>
              <a:endParaRPr lang="en-US" sz="2018" u="none" strike="noStrik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50566" y="571149"/>
            <a:ext cx="4774183" cy="1171178"/>
            <a:chOff x="0" y="0"/>
            <a:chExt cx="6365577" cy="1561571"/>
          </a:xfrm>
        </p:grpSpPr>
        <p:sp>
          <p:nvSpPr>
            <p:cNvPr id="8" name="TextBox 8"/>
            <p:cNvSpPr txBox="1"/>
            <p:nvPr/>
          </p:nvSpPr>
          <p:spPr>
            <a:xfrm>
              <a:off x="0" y="-133350"/>
              <a:ext cx="6365577" cy="1096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5676"/>
                </a:lnSpc>
                <a:spcBef>
                  <a:spcPct val="0"/>
                </a:spcBef>
              </a:pPr>
              <a:r>
                <a:rPr lang="en-US" sz="477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CONCLUSÍON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73005"/>
              <a:ext cx="6365577" cy="388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6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0" t="-2488" r="-2335" b="-196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17522" y="4410075"/>
            <a:ext cx="8025969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8000" b="1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Microsoft Office PowerPoint</Application>
  <PresentationFormat>Personalizado</PresentationFormat>
  <Paragraphs>82</Paragraphs>
  <Slides>10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Agrandir</vt:lpstr>
      <vt:lpstr>Arial</vt:lpstr>
      <vt:lpstr>Agrandir Bold</vt:lpstr>
      <vt:lpstr>Calibri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TITULO MyMedRecord</dc:title>
  <cp:lastModifiedBy>ARIEL MARCELO VELASQUEZ CHAMIA</cp:lastModifiedBy>
  <cp:revision>2</cp:revision>
  <dcterms:created xsi:type="dcterms:W3CDTF">2006-08-16T00:00:00Z</dcterms:created>
  <dcterms:modified xsi:type="dcterms:W3CDTF">2026-08-31T13:27:06Z</dcterms:modified>
  <dc:identifier>DAHTnTYsL9Y</dc:identifier>
</cp:coreProperties>
</file>