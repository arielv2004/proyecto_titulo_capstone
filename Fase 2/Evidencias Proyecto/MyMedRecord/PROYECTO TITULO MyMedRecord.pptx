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grandir Bold" charset="1" panose="00000800000000000000"/>
      <p:regular r:id="rId17"/>
    </p:embeddedFont>
    <p:embeddedFont>
      <p:font typeface="Agrandir" charset="1" panose="00000500000000000000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9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0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0" t="-2488" r="-2335" b="-19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47114" y="0"/>
            <a:ext cx="20330809" cy="10287000"/>
          </a:xfrm>
          <a:custGeom>
            <a:avLst/>
            <a:gdLst/>
            <a:ahLst/>
            <a:cxnLst/>
            <a:rect r="r" b="b" t="t" l="l"/>
            <a:pathLst>
              <a:path h="10287000" w="20330809">
                <a:moveTo>
                  <a:pt x="0" y="0"/>
                </a:moveTo>
                <a:lnTo>
                  <a:pt x="20330809" y="0"/>
                </a:lnTo>
                <a:lnTo>
                  <a:pt x="2033080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1111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0" t="-3685" r="-2125" b="-307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87963" y="1417783"/>
            <a:ext cx="1377135" cy="137713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87963" y="4276261"/>
            <a:ext cx="1377135" cy="137713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87963" y="7135724"/>
            <a:ext cx="1377135" cy="13771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851392" y="1660158"/>
            <a:ext cx="850279" cy="726989"/>
          </a:xfrm>
          <a:custGeom>
            <a:avLst/>
            <a:gdLst/>
            <a:ahLst/>
            <a:cxnLst/>
            <a:rect r="r" b="b" t="t" l="l"/>
            <a:pathLst>
              <a:path h="726989" w="850279">
                <a:moveTo>
                  <a:pt x="0" y="0"/>
                </a:moveTo>
                <a:lnTo>
                  <a:pt x="850279" y="0"/>
                </a:lnTo>
                <a:lnTo>
                  <a:pt x="850279" y="726989"/>
                </a:lnTo>
                <a:lnTo>
                  <a:pt x="0" y="72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371989" y="1417783"/>
            <a:ext cx="8009891" cy="2011737"/>
            <a:chOff x="0" y="0"/>
            <a:chExt cx="10679855" cy="268231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10679855" cy="612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  <a:r>
                <a:rPr lang="en-US" b="true" sz="269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Silos de Información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23429"/>
              <a:ext cx="10679855" cy="2058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Las instituciones médicas operan como islas desconectadas. Si un paciente se atiende en el sistema público y luego en una clínica privada, su historial no se transfiere, convirtiéndolo en un paciente "en blanco" para el nuevo médico.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75993" y="4276261"/>
            <a:ext cx="8005887" cy="2011737"/>
            <a:chOff x="0" y="0"/>
            <a:chExt cx="10674516" cy="268231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76200"/>
              <a:ext cx="10674516" cy="612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  <a:r>
                <a:rPr lang="en-US" b="true" sz="269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La Carga sobre el Paciente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23429"/>
              <a:ext cx="10674516" cy="2058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Se </a:t>
              </a: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le delega al paciente la responsabilidad absoluta de custodiar, transportar y recordar su historial. Esto lo obliga a acarrear carpetas con exámenes, recetas en papel y radiografías a cada consulta.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75993" y="7187765"/>
            <a:ext cx="8005887" cy="2011737"/>
            <a:chOff x="0" y="0"/>
            <a:chExt cx="10674516" cy="268231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76200"/>
              <a:ext cx="10674516" cy="612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  <a:r>
                <a:rPr lang="en-US" b="true" sz="269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Riesgo Clínico y Económico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23429"/>
              <a:ext cx="10674516" cy="2058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Esta falt</a:t>
              </a: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de información inmediata en el punto de atención genera diagnósticos imprecisos, errores de prescripción de medicamentos y obliga al paciente a gastar tiempo y dinero repitiendo exámenes que ya se habían realizado.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1105" y="2023653"/>
            <a:ext cx="5690269" cy="2183048"/>
            <a:chOff x="0" y="0"/>
            <a:chExt cx="7587025" cy="291073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14300"/>
              <a:ext cx="7587025" cy="1721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El Problema (La Fragmentación)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875892"/>
              <a:ext cx="7587025" cy="1034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 profunda fragmentación del sistema de salud chileno.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851392" y="4555141"/>
            <a:ext cx="850279" cy="726989"/>
          </a:xfrm>
          <a:custGeom>
            <a:avLst/>
            <a:gdLst/>
            <a:ahLst/>
            <a:cxnLst/>
            <a:rect r="r" b="b" t="t" l="l"/>
            <a:pathLst>
              <a:path h="726989" w="850279">
                <a:moveTo>
                  <a:pt x="0" y="0"/>
                </a:moveTo>
                <a:lnTo>
                  <a:pt x="850279" y="0"/>
                </a:lnTo>
                <a:lnTo>
                  <a:pt x="850279" y="726989"/>
                </a:lnTo>
                <a:lnTo>
                  <a:pt x="0" y="72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51392" y="7415522"/>
            <a:ext cx="850279" cy="726989"/>
          </a:xfrm>
          <a:custGeom>
            <a:avLst/>
            <a:gdLst/>
            <a:ahLst/>
            <a:cxnLst/>
            <a:rect r="r" b="b" t="t" l="l"/>
            <a:pathLst>
              <a:path h="726989" w="850279">
                <a:moveTo>
                  <a:pt x="0" y="0"/>
                </a:moveTo>
                <a:lnTo>
                  <a:pt x="850279" y="0"/>
                </a:lnTo>
                <a:lnTo>
                  <a:pt x="850279" y="726988"/>
                </a:lnTo>
                <a:lnTo>
                  <a:pt x="0" y="726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26017" y="-156371"/>
            <a:ext cx="33893751" cy="18140237"/>
          </a:xfrm>
          <a:custGeom>
            <a:avLst/>
            <a:gdLst/>
            <a:ahLst/>
            <a:cxnLst/>
            <a:rect r="r" b="b" t="t" l="l"/>
            <a:pathLst>
              <a:path h="18140237" w="33893751">
                <a:moveTo>
                  <a:pt x="0" y="0"/>
                </a:moveTo>
                <a:lnTo>
                  <a:pt x="33893751" y="0"/>
                </a:lnTo>
                <a:lnTo>
                  <a:pt x="33893751" y="18140236"/>
                </a:lnTo>
                <a:lnTo>
                  <a:pt x="0" y="18140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27" r="0" b="-39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38913" y="1084154"/>
            <a:ext cx="1377135" cy="137713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38913" y="3493216"/>
            <a:ext cx="1377135" cy="137713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38913" y="6258987"/>
            <a:ext cx="1377135" cy="13771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40080" y="1312881"/>
            <a:ext cx="574801" cy="919682"/>
          </a:xfrm>
          <a:custGeom>
            <a:avLst/>
            <a:gdLst/>
            <a:ahLst/>
            <a:cxnLst/>
            <a:rect r="r" b="b" t="t" l="l"/>
            <a:pathLst>
              <a:path h="919682" w="574801">
                <a:moveTo>
                  <a:pt x="0" y="0"/>
                </a:moveTo>
                <a:lnTo>
                  <a:pt x="574802" y="0"/>
                </a:lnTo>
                <a:lnTo>
                  <a:pt x="574802" y="919682"/>
                </a:lnTo>
                <a:lnTo>
                  <a:pt x="0" y="919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40080" y="3721943"/>
            <a:ext cx="574801" cy="919682"/>
          </a:xfrm>
          <a:custGeom>
            <a:avLst/>
            <a:gdLst/>
            <a:ahLst/>
            <a:cxnLst/>
            <a:rect r="r" b="b" t="t" l="l"/>
            <a:pathLst>
              <a:path h="919682" w="574801">
                <a:moveTo>
                  <a:pt x="0" y="0"/>
                </a:moveTo>
                <a:lnTo>
                  <a:pt x="574802" y="0"/>
                </a:lnTo>
                <a:lnTo>
                  <a:pt x="574802" y="919682"/>
                </a:lnTo>
                <a:lnTo>
                  <a:pt x="0" y="919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140080" y="6487714"/>
            <a:ext cx="574801" cy="919682"/>
          </a:xfrm>
          <a:custGeom>
            <a:avLst/>
            <a:gdLst/>
            <a:ahLst/>
            <a:cxnLst/>
            <a:rect r="r" b="b" t="t" l="l"/>
            <a:pathLst>
              <a:path h="919682" w="574801">
                <a:moveTo>
                  <a:pt x="0" y="0"/>
                </a:moveTo>
                <a:lnTo>
                  <a:pt x="574802" y="0"/>
                </a:lnTo>
                <a:lnTo>
                  <a:pt x="574802" y="919682"/>
                </a:lnTo>
                <a:lnTo>
                  <a:pt x="0" y="919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46821" y="6487714"/>
            <a:ext cx="4844742" cy="3463990"/>
          </a:xfrm>
          <a:custGeom>
            <a:avLst/>
            <a:gdLst/>
            <a:ahLst/>
            <a:cxnLst/>
            <a:rect r="r" b="b" t="t" l="l"/>
            <a:pathLst>
              <a:path h="3463990" w="4844742">
                <a:moveTo>
                  <a:pt x="0" y="0"/>
                </a:moveTo>
                <a:lnTo>
                  <a:pt x="4844742" y="0"/>
                </a:lnTo>
                <a:lnTo>
                  <a:pt x="4844742" y="3463990"/>
                </a:lnTo>
                <a:lnTo>
                  <a:pt x="0" y="3463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249135" y="6697882"/>
            <a:ext cx="3840114" cy="2215865"/>
          </a:xfrm>
          <a:custGeom>
            <a:avLst/>
            <a:gdLst/>
            <a:ahLst/>
            <a:cxnLst/>
            <a:rect r="r" b="b" t="t" l="l"/>
            <a:pathLst>
              <a:path h="2215865" w="3840114">
                <a:moveTo>
                  <a:pt x="0" y="0"/>
                </a:moveTo>
                <a:lnTo>
                  <a:pt x="3840114" y="0"/>
                </a:lnTo>
                <a:lnTo>
                  <a:pt x="3840114" y="2215865"/>
                </a:lnTo>
                <a:lnTo>
                  <a:pt x="0" y="221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501" t="0" r="-105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28708" y="6012098"/>
            <a:ext cx="2170762" cy="4274902"/>
          </a:xfrm>
          <a:custGeom>
            <a:avLst/>
            <a:gdLst/>
            <a:ahLst/>
            <a:cxnLst/>
            <a:rect r="r" b="b" t="t" l="l"/>
            <a:pathLst>
              <a:path h="4274902" w="2170762">
                <a:moveTo>
                  <a:pt x="0" y="0"/>
                </a:moveTo>
                <a:lnTo>
                  <a:pt x="2170762" y="0"/>
                </a:lnTo>
                <a:lnTo>
                  <a:pt x="2170762" y="4274902"/>
                </a:lnTo>
                <a:lnTo>
                  <a:pt x="0" y="42749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522939" y="1084154"/>
            <a:ext cx="8009891" cy="1627263"/>
            <a:chOff x="0" y="0"/>
            <a:chExt cx="10679855" cy="216968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76200"/>
              <a:ext cx="10679855" cy="612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  <a:r>
                <a:rPr lang="en-US" b="true" sz="269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Digitalización asistida con OCR e IA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23429"/>
              <a:ext cx="10679855" cy="154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Al cargar una </a:t>
              </a: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imagen o un documento, el sistema lee su contenido y propone datos organizados, como medicamentos, diagnósticos y resultados. El paciente los revisa y corrige antes de guardarlos.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6943" y="3493216"/>
            <a:ext cx="8005887" cy="1627263"/>
            <a:chOff x="0" y="0"/>
            <a:chExt cx="10674516" cy="2169684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76200"/>
              <a:ext cx="10674516" cy="612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  <a:r>
                <a:rPr lang="en-US" b="true" sz="269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Revisión y confirmación del paciente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623429"/>
              <a:ext cx="10674516" cy="154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Al cargar una im</a:t>
              </a: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agen o un documento, el sistema lee su contenido y propone datos organizados, como medicamentos, diagnósticos y resultados. El paciente los revisa y corrige antes de guardarlos.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26943" y="6149179"/>
            <a:ext cx="8005887" cy="1627263"/>
            <a:chOff x="0" y="0"/>
            <a:chExt cx="10674516" cy="2169684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76200"/>
              <a:ext cx="10674516" cy="612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  <a:r>
                <a:rPr lang="en-US" b="true" sz="269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Acceso médico temporal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623429"/>
              <a:ext cx="10674516" cy="1546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El</a:t>
              </a: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profesional puede visualizar la ficha y los documentos compartidos durante la vigencia del permiso, con la información reunida en un solo lugar para preparar la consulta.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1242" y="827328"/>
            <a:ext cx="5690269" cy="4821346"/>
            <a:chOff x="0" y="0"/>
            <a:chExt cx="7587025" cy="6428461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14300"/>
              <a:ext cx="7587025" cy="16830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999" b="true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Nuestra Solución</a:t>
              </a:r>
            </a:p>
            <a:p>
              <a:pPr algn="l" marL="0" indent="0" lvl="1">
                <a:lnSpc>
                  <a:spcPts val="4522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(MyMedRecord)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1837623"/>
              <a:ext cx="7587025" cy="4590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U</a:t>
              </a:r>
              <a:r>
                <a:rPr lang="en-US" b="true" sz="2000" strike="noStrike" u="none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na plataforma web centrada en el paciente</a:t>
              </a:r>
            </a:p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Reúne recetas, exámenes e informes en una ficha accesible desde el teléfono o computador. </a:t>
              </a:r>
            </a:p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El paciente decide cuándo compartirla y puede otorgar acceso temporal a un profesional de salud.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0" y="8519392"/>
            <a:ext cx="7395865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MyMedRecord tr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ansforma documentos de salud </a:t>
            </a:r>
          </a:p>
          <a:p>
            <a:pPr algn="l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dispersos en una ficha organizada que el </a:t>
            </a:r>
          </a:p>
          <a:p>
            <a:pPr algn="l">
              <a:lnSpc>
                <a:spcPts val="3360"/>
              </a:lnSpc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paciente puede revisar y compartir.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0" t="-3685" r="-2125" b="-307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54293" y="1865629"/>
            <a:ext cx="688568" cy="68856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0691" y="1629686"/>
            <a:ext cx="5690269" cy="3358559"/>
            <a:chOff x="0" y="0"/>
            <a:chExt cx="7587025" cy="44780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7587025" cy="921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Objetivo General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94842"/>
              <a:ext cx="7587025" cy="3383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9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Desarrollar una plataforma web que permita a los usuarios almacenar, organizar, consultar y compartir de manera controlada sus antecedentes médicos personales, mediante digitalización asistida de documentos y mecanismos de acceso temporal para profesionales de salud.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54293" y="663656"/>
            <a:ext cx="5690269" cy="1201973"/>
            <a:chOff x="0" y="0"/>
            <a:chExt cx="7587025" cy="16026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7587025" cy="921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Objetivos especificos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5792"/>
              <a:ext cx="7587025" cy="526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96232" y="1827529"/>
            <a:ext cx="5935484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Diseñar interfaces para los portales de paciente y médico que permitan realizar sus tareas principales en computador y teléfono.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754293" y="3383385"/>
            <a:ext cx="688568" cy="68856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54293" y="4900627"/>
            <a:ext cx="688568" cy="6885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54293" y="6417870"/>
            <a:ext cx="688568" cy="68856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54293" y="7935113"/>
            <a:ext cx="688568" cy="68856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5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896232" y="3345285"/>
            <a:ext cx="5935484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ntar la carga, el almacenamiento y la consulta de documentos de salud asociados a la ficha del paciente.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96232" y="4859124"/>
            <a:ext cx="5935484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ntegrar OCR e inteligencia artificial para proponer la extracción y organización de datos, con revisión del usuario antes de guardarlos.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96232" y="6379770"/>
            <a:ext cx="5935484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ntar autenticación y permisos temporales para compartir información mediante selección de profesional o código QR.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6232" y="7903134"/>
            <a:ext cx="5935484" cy="98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</a:t>
            </a:r>
            <a:r>
              <a:rPr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 los flujos principales mediante pruebas funcionales e integrales y registrar los resultados y las mejoras pendientes.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8" t="-3157" r="-1621" b="-315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72245" y="550973"/>
            <a:ext cx="3706540" cy="1523238"/>
            <a:chOff x="0" y="0"/>
            <a:chExt cx="976208" cy="4011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6208" cy="401182"/>
            </a:xfrm>
            <a:custGeom>
              <a:avLst/>
              <a:gdLst/>
              <a:ahLst/>
              <a:cxnLst/>
              <a:rect r="r" b="b" t="t" l="l"/>
              <a:pathLst>
                <a:path h="401182" w="976208">
                  <a:moveTo>
                    <a:pt x="106525" y="0"/>
                  </a:moveTo>
                  <a:lnTo>
                    <a:pt x="869683" y="0"/>
                  </a:lnTo>
                  <a:cubicBezTo>
                    <a:pt x="928515" y="0"/>
                    <a:pt x="976208" y="47693"/>
                    <a:pt x="976208" y="106525"/>
                  </a:cubicBezTo>
                  <a:lnTo>
                    <a:pt x="976208" y="294657"/>
                  </a:lnTo>
                  <a:cubicBezTo>
                    <a:pt x="976208" y="353489"/>
                    <a:pt x="928515" y="401182"/>
                    <a:pt x="869683" y="401182"/>
                  </a:cubicBezTo>
                  <a:lnTo>
                    <a:pt x="106525" y="401182"/>
                  </a:lnTo>
                  <a:cubicBezTo>
                    <a:pt x="78273" y="401182"/>
                    <a:pt x="51178" y="389959"/>
                    <a:pt x="31200" y="369982"/>
                  </a:cubicBezTo>
                  <a:cubicBezTo>
                    <a:pt x="11223" y="350004"/>
                    <a:pt x="0" y="322909"/>
                    <a:pt x="0" y="294657"/>
                  </a:cubicBezTo>
                  <a:lnTo>
                    <a:pt x="0" y="106525"/>
                  </a:lnTo>
                  <a:cubicBezTo>
                    <a:pt x="0" y="78273"/>
                    <a:pt x="11223" y="51178"/>
                    <a:pt x="31200" y="31200"/>
                  </a:cubicBezTo>
                  <a:cubicBezTo>
                    <a:pt x="51178" y="11223"/>
                    <a:pt x="78273" y="0"/>
                    <a:pt x="1065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976208" cy="50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Factibilidad y Alcance </a:t>
              </a:r>
            </a:p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83108" y="3829036"/>
            <a:ext cx="3219051" cy="825926"/>
            <a:chOff x="0" y="0"/>
            <a:chExt cx="847816" cy="217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7816" cy="217528"/>
            </a:xfrm>
            <a:custGeom>
              <a:avLst/>
              <a:gdLst/>
              <a:ahLst/>
              <a:cxnLst/>
              <a:rect r="r" b="b" t="t" l="l"/>
              <a:pathLst>
                <a:path h="217528" w="847816">
                  <a:moveTo>
                    <a:pt x="108764" y="0"/>
                  </a:moveTo>
                  <a:lnTo>
                    <a:pt x="739052" y="0"/>
                  </a:lnTo>
                  <a:cubicBezTo>
                    <a:pt x="799121" y="0"/>
                    <a:pt x="847816" y="48695"/>
                    <a:pt x="847816" y="108764"/>
                  </a:cubicBezTo>
                  <a:lnTo>
                    <a:pt x="847816" y="108764"/>
                  </a:lnTo>
                  <a:cubicBezTo>
                    <a:pt x="847816" y="168833"/>
                    <a:pt x="799121" y="217528"/>
                    <a:pt x="739052" y="217528"/>
                  </a:cubicBezTo>
                  <a:lnTo>
                    <a:pt x="108764" y="217528"/>
                  </a:lnTo>
                  <a:cubicBezTo>
                    <a:pt x="48695" y="217528"/>
                    <a:pt x="0" y="168833"/>
                    <a:pt x="0" y="108764"/>
                  </a:cubicBezTo>
                  <a:lnTo>
                    <a:pt x="0" y="108764"/>
                  </a:lnTo>
                  <a:cubicBezTo>
                    <a:pt x="0" y="48695"/>
                    <a:pt x="48695" y="0"/>
                    <a:pt x="1087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847816" cy="322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Factibilidad Técnica y Financiera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2964" y="5796394"/>
            <a:ext cx="3999339" cy="3146635"/>
            <a:chOff x="0" y="0"/>
            <a:chExt cx="1053324" cy="8287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3324" cy="828744"/>
            </a:xfrm>
            <a:custGeom>
              <a:avLst/>
              <a:gdLst/>
              <a:ahLst/>
              <a:cxnLst/>
              <a:rect r="r" b="b" t="t" l="l"/>
              <a:pathLst>
                <a:path h="828744" w="1053324">
                  <a:moveTo>
                    <a:pt x="98726" y="0"/>
                  </a:moveTo>
                  <a:lnTo>
                    <a:pt x="954598" y="0"/>
                  </a:lnTo>
                  <a:cubicBezTo>
                    <a:pt x="1009123" y="0"/>
                    <a:pt x="1053324" y="44201"/>
                    <a:pt x="1053324" y="98726"/>
                  </a:cubicBezTo>
                  <a:lnTo>
                    <a:pt x="1053324" y="730018"/>
                  </a:lnTo>
                  <a:cubicBezTo>
                    <a:pt x="1053324" y="784542"/>
                    <a:pt x="1009123" y="828744"/>
                    <a:pt x="954598" y="828744"/>
                  </a:cubicBezTo>
                  <a:lnTo>
                    <a:pt x="98726" y="828744"/>
                  </a:lnTo>
                  <a:cubicBezTo>
                    <a:pt x="72542" y="828744"/>
                    <a:pt x="47431" y="818342"/>
                    <a:pt x="28916" y="799827"/>
                  </a:cubicBezTo>
                  <a:cubicBezTo>
                    <a:pt x="10401" y="781313"/>
                    <a:pt x="0" y="756201"/>
                    <a:pt x="0" y="730018"/>
                  </a:cubicBezTo>
                  <a:lnTo>
                    <a:pt x="0" y="98726"/>
                  </a:lnTo>
                  <a:cubicBezTo>
                    <a:pt x="0" y="44201"/>
                    <a:pt x="44201" y="0"/>
                    <a:pt x="98726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53324" cy="904943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El proyecto utiliza React, Node.js, Python y PostgreSQL. Estas tecnologías permiten desarrollarlo sin licencias de software costosas; Docker facilita la preparación del entorno. Un despliegue real sí tendría costos de alojamiento, almacenamiento y procesamiento con IA.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46975" y="5796394"/>
            <a:ext cx="3996214" cy="3152204"/>
            <a:chOff x="0" y="0"/>
            <a:chExt cx="1052501" cy="8302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501" cy="830210"/>
            </a:xfrm>
            <a:custGeom>
              <a:avLst/>
              <a:gdLst/>
              <a:ahLst/>
              <a:cxnLst/>
              <a:rect r="r" b="b" t="t" l="l"/>
              <a:pathLst>
                <a:path h="830210" w="1052501">
                  <a:moveTo>
                    <a:pt x="98803" y="0"/>
                  </a:moveTo>
                  <a:lnTo>
                    <a:pt x="953698" y="0"/>
                  </a:lnTo>
                  <a:cubicBezTo>
                    <a:pt x="1008265" y="0"/>
                    <a:pt x="1052501" y="44236"/>
                    <a:pt x="1052501" y="98803"/>
                  </a:cubicBezTo>
                  <a:lnTo>
                    <a:pt x="1052501" y="731407"/>
                  </a:lnTo>
                  <a:cubicBezTo>
                    <a:pt x="1052501" y="757611"/>
                    <a:pt x="1042091" y="782742"/>
                    <a:pt x="1023562" y="801271"/>
                  </a:cubicBezTo>
                  <a:cubicBezTo>
                    <a:pt x="1005033" y="819800"/>
                    <a:pt x="979902" y="830210"/>
                    <a:pt x="953698" y="830210"/>
                  </a:cubicBezTo>
                  <a:lnTo>
                    <a:pt x="98803" y="830210"/>
                  </a:lnTo>
                  <a:cubicBezTo>
                    <a:pt x="72599" y="830210"/>
                    <a:pt x="47468" y="819800"/>
                    <a:pt x="28939" y="801271"/>
                  </a:cubicBezTo>
                  <a:cubicBezTo>
                    <a:pt x="10410" y="782742"/>
                    <a:pt x="0" y="757611"/>
                    <a:pt x="0" y="731407"/>
                  </a:cubicBezTo>
                  <a:lnTo>
                    <a:pt x="0" y="98803"/>
                  </a:lnTo>
                  <a:cubicBezTo>
                    <a:pt x="0" y="72599"/>
                    <a:pt x="10410" y="47468"/>
                    <a:pt x="28939" y="28939"/>
                  </a:cubicBezTo>
                  <a:cubicBezTo>
                    <a:pt x="47468" y="10410"/>
                    <a:pt x="72599" y="0"/>
                    <a:pt x="98803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052501" cy="906410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 demostración se centra en recetas y exámenes impresos y legibles. La escritura manuscrita, las imágenes de baja calidad y los PDF escaneados pueden producir errores o no procesarse correctamente.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5627" y="5796394"/>
            <a:ext cx="3999339" cy="3146412"/>
            <a:chOff x="0" y="0"/>
            <a:chExt cx="1053324" cy="8286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3324" cy="828685"/>
            </a:xfrm>
            <a:custGeom>
              <a:avLst/>
              <a:gdLst/>
              <a:ahLst/>
              <a:cxnLst/>
              <a:rect r="r" b="b" t="t" l="l"/>
              <a:pathLst>
                <a:path h="828685" w="1053324">
                  <a:moveTo>
                    <a:pt x="98726" y="0"/>
                  </a:moveTo>
                  <a:lnTo>
                    <a:pt x="954598" y="0"/>
                  </a:lnTo>
                  <a:cubicBezTo>
                    <a:pt x="1009123" y="0"/>
                    <a:pt x="1053324" y="44201"/>
                    <a:pt x="1053324" y="98726"/>
                  </a:cubicBezTo>
                  <a:lnTo>
                    <a:pt x="1053324" y="729959"/>
                  </a:lnTo>
                  <a:cubicBezTo>
                    <a:pt x="1053324" y="784484"/>
                    <a:pt x="1009123" y="828685"/>
                    <a:pt x="954598" y="828685"/>
                  </a:cubicBezTo>
                  <a:lnTo>
                    <a:pt x="98726" y="828685"/>
                  </a:lnTo>
                  <a:cubicBezTo>
                    <a:pt x="44201" y="828685"/>
                    <a:pt x="0" y="784484"/>
                    <a:pt x="0" y="729959"/>
                  </a:cubicBezTo>
                  <a:lnTo>
                    <a:pt x="0" y="98726"/>
                  </a:lnTo>
                  <a:cubicBezTo>
                    <a:pt x="0" y="44201"/>
                    <a:pt x="44201" y="0"/>
                    <a:pt x="98726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053324" cy="90488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l">
                <a:lnSpc>
                  <a:spcPts val="2379"/>
                </a:lnSpc>
              </a:pPr>
              <a:r>
                <a:rPr lang="en-US" sz="16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Para garantizar la integridad y seguridad de la información médica, ningún dato extraído por la Inteligencia Artificial se guardará automáticamente. El sistema siempre requerirá que el paciente revise y confirme los datos extraídos en pantalla antes de registrarlos en su historial.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11670" y="3829036"/>
            <a:ext cx="3219051" cy="825926"/>
            <a:chOff x="0" y="0"/>
            <a:chExt cx="847816" cy="2175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7816" cy="217528"/>
            </a:xfrm>
            <a:custGeom>
              <a:avLst/>
              <a:gdLst/>
              <a:ahLst/>
              <a:cxnLst/>
              <a:rect r="r" b="b" t="t" l="l"/>
              <a:pathLst>
                <a:path h="217528" w="847816">
                  <a:moveTo>
                    <a:pt x="108764" y="0"/>
                  </a:moveTo>
                  <a:lnTo>
                    <a:pt x="739052" y="0"/>
                  </a:lnTo>
                  <a:cubicBezTo>
                    <a:pt x="799121" y="0"/>
                    <a:pt x="847816" y="48695"/>
                    <a:pt x="847816" y="108764"/>
                  </a:cubicBezTo>
                  <a:lnTo>
                    <a:pt x="847816" y="108764"/>
                  </a:lnTo>
                  <a:cubicBezTo>
                    <a:pt x="847816" y="168833"/>
                    <a:pt x="799121" y="217528"/>
                    <a:pt x="739052" y="217528"/>
                  </a:cubicBezTo>
                  <a:lnTo>
                    <a:pt x="108764" y="217528"/>
                  </a:lnTo>
                  <a:cubicBezTo>
                    <a:pt x="48695" y="217528"/>
                    <a:pt x="0" y="168833"/>
                    <a:pt x="0" y="108764"/>
                  </a:cubicBezTo>
                  <a:lnTo>
                    <a:pt x="0" y="108764"/>
                  </a:lnTo>
                  <a:cubicBezTo>
                    <a:pt x="0" y="48695"/>
                    <a:pt x="48695" y="0"/>
                    <a:pt x="1087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847816" cy="322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Alcance del procesamiento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35771" y="3829036"/>
            <a:ext cx="3219051" cy="825926"/>
            <a:chOff x="0" y="0"/>
            <a:chExt cx="847816" cy="2175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7816" cy="217528"/>
            </a:xfrm>
            <a:custGeom>
              <a:avLst/>
              <a:gdLst/>
              <a:ahLst/>
              <a:cxnLst/>
              <a:rect r="r" b="b" t="t" l="l"/>
              <a:pathLst>
                <a:path h="217528" w="847816">
                  <a:moveTo>
                    <a:pt x="108764" y="0"/>
                  </a:moveTo>
                  <a:lnTo>
                    <a:pt x="739052" y="0"/>
                  </a:lnTo>
                  <a:cubicBezTo>
                    <a:pt x="799121" y="0"/>
                    <a:pt x="847816" y="48695"/>
                    <a:pt x="847816" y="108764"/>
                  </a:cubicBezTo>
                  <a:lnTo>
                    <a:pt x="847816" y="108764"/>
                  </a:lnTo>
                  <a:cubicBezTo>
                    <a:pt x="847816" y="168833"/>
                    <a:pt x="799121" y="217528"/>
                    <a:pt x="739052" y="217528"/>
                  </a:cubicBezTo>
                  <a:lnTo>
                    <a:pt x="108764" y="217528"/>
                  </a:lnTo>
                  <a:cubicBezTo>
                    <a:pt x="48695" y="217528"/>
                    <a:pt x="0" y="168833"/>
                    <a:pt x="0" y="108764"/>
                  </a:cubicBezTo>
                  <a:lnTo>
                    <a:pt x="0" y="108764"/>
                  </a:lnTo>
                  <a:cubicBezTo>
                    <a:pt x="0" y="48695"/>
                    <a:pt x="48695" y="0"/>
                    <a:pt x="1087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6B44E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847816" cy="322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Sistema de Validación "Human-in-the-Loop"</a:t>
              </a:r>
            </a:p>
          </p:txBody>
        </p:sp>
      </p:grpSp>
      <p:sp>
        <p:nvSpPr>
          <p:cNvPr name="Freeform 24" id="24"/>
          <p:cNvSpPr/>
          <p:nvPr/>
        </p:nvSpPr>
        <p:spPr>
          <a:xfrm>
            <a:off x="3292634" y="1312592"/>
            <a:ext cx="3679611" cy="2516444"/>
          </a:xfrm>
          <a:custGeom>
            <a:avLst/>
            <a:gdLst/>
            <a:ahLst/>
            <a:cxnLst/>
            <a:rect r="r" b="b" t="t" l="l"/>
            <a:pathLst>
              <a:path h="2516444" w="3679611">
                <a:moveTo>
                  <a:pt x="3679611" y="0"/>
                </a:moveTo>
                <a:lnTo>
                  <a:pt x="228600" y="0"/>
                </a:lnTo>
                <a:cubicBezTo>
                  <a:pt x="102347" y="0"/>
                  <a:pt x="0" y="102347"/>
                  <a:pt x="0" y="228600"/>
                </a:cubicBezTo>
                <a:lnTo>
                  <a:pt x="0" y="2516444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5" id="25"/>
          <p:cNvSpPr/>
          <p:nvPr/>
        </p:nvSpPr>
        <p:spPr>
          <a:xfrm>
            <a:off x="8821195" y="2074211"/>
            <a:ext cx="4320" cy="1754825"/>
          </a:xfrm>
          <a:custGeom>
            <a:avLst/>
            <a:gdLst/>
            <a:ahLst/>
            <a:cxnLst/>
            <a:rect r="r" b="b" t="t" l="l"/>
            <a:pathLst>
              <a:path h="1754825" w="4320">
                <a:moveTo>
                  <a:pt x="0" y="1754825"/>
                </a:moveTo>
                <a:lnTo>
                  <a:pt x="0" y="879572"/>
                </a:lnTo>
                <a:cubicBezTo>
                  <a:pt x="0" y="878999"/>
                  <a:pt x="228" y="878450"/>
                  <a:pt x="632" y="878045"/>
                </a:cubicBezTo>
                <a:cubicBezTo>
                  <a:pt x="1038" y="877640"/>
                  <a:pt x="1587" y="877412"/>
                  <a:pt x="2160" y="877412"/>
                </a:cubicBezTo>
                <a:lnTo>
                  <a:pt x="2160" y="877412"/>
                </a:lnTo>
                <a:cubicBezTo>
                  <a:pt x="2733" y="877412"/>
                  <a:pt x="3282" y="877185"/>
                  <a:pt x="3687" y="876780"/>
                </a:cubicBezTo>
                <a:cubicBezTo>
                  <a:pt x="4092" y="876375"/>
                  <a:pt x="4320" y="875825"/>
                  <a:pt x="4320" y="875252"/>
                </a:cubicBezTo>
                <a:lnTo>
                  <a:pt x="4320" y="0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>
            <a:off x="10678785" y="1312592"/>
            <a:ext cx="3666511" cy="2516444"/>
          </a:xfrm>
          <a:custGeom>
            <a:avLst/>
            <a:gdLst/>
            <a:ahLst/>
            <a:cxnLst/>
            <a:rect r="r" b="b" t="t" l="l"/>
            <a:pathLst>
              <a:path h="2516444" w="3666511">
                <a:moveTo>
                  <a:pt x="0" y="0"/>
                </a:moveTo>
                <a:lnTo>
                  <a:pt x="3437911" y="0"/>
                </a:lnTo>
                <a:cubicBezTo>
                  <a:pt x="3564164" y="0"/>
                  <a:pt x="3666511" y="102347"/>
                  <a:pt x="3666511" y="228600"/>
                </a:cubicBezTo>
                <a:lnTo>
                  <a:pt x="3666511" y="2516444"/>
                </a:ln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3292633" y="4654962"/>
            <a:ext cx="0" cy="114143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8821195" y="4654962"/>
            <a:ext cx="23886" cy="114143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V="true">
            <a:off x="14345297" y="4654962"/>
            <a:ext cx="0" cy="114143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3164" y="-597603"/>
            <a:ext cx="31984268" cy="17118264"/>
          </a:xfrm>
          <a:custGeom>
            <a:avLst/>
            <a:gdLst/>
            <a:ahLst/>
            <a:cxnLst/>
            <a:rect r="r" b="b" t="t" l="l"/>
            <a:pathLst>
              <a:path h="17118264" w="31984268">
                <a:moveTo>
                  <a:pt x="0" y="0"/>
                </a:moveTo>
                <a:lnTo>
                  <a:pt x="31984268" y="0"/>
                </a:lnTo>
                <a:lnTo>
                  <a:pt x="31984268" y="17118264"/>
                </a:lnTo>
                <a:lnTo>
                  <a:pt x="0" y="1711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27" r="0" b="-39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728" y="2691630"/>
            <a:ext cx="874523" cy="874523"/>
          </a:xfrm>
          <a:custGeom>
            <a:avLst/>
            <a:gdLst/>
            <a:ahLst/>
            <a:cxnLst/>
            <a:rect r="r" b="b" t="t" l="l"/>
            <a:pathLst>
              <a:path h="874523" w="874523">
                <a:moveTo>
                  <a:pt x="0" y="0"/>
                </a:moveTo>
                <a:lnTo>
                  <a:pt x="874523" y="0"/>
                </a:lnTo>
                <a:lnTo>
                  <a:pt x="874523" y="874524"/>
                </a:lnTo>
                <a:lnTo>
                  <a:pt x="0" y="87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6996" y="239761"/>
            <a:ext cx="4422390" cy="4903739"/>
          </a:xfrm>
          <a:custGeom>
            <a:avLst/>
            <a:gdLst/>
            <a:ahLst/>
            <a:cxnLst/>
            <a:rect r="r" b="b" t="t" l="l"/>
            <a:pathLst>
              <a:path h="4903739" w="4422390">
                <a:moveTo>
                  <a:pt x="0" y="0"/>
                </a:moveTo>
                <a:lnTo>
                  <a:pt x="4422391" y="0"/>
                </a:lnTo>
                <a:lnTo>
                  <a:pt x="4422391" y="4903739"/>
                </a:lnTo>
                <a:lnTo>
                  <a:pt x="0" y="4903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86937" y="5271478"/>
            <a:ext cx="7461620" cy="4835365"/>
          </a:xfrm>
          <a:custGeom>
            <a:avLst/>
            <a:gdLst/>
            <a:ahLst/>
            <a:cxnLst/>
            <a:rect r="r" b="b" t="t" l="l"/>
            <a:pathLst>
              <a:path h="4835365" w="7461620">
                <a:moveTo>
                  <a:pt x="0" y="0"/>
                </a:moveTo>
                <a:lnTo>
                  <a:pt x="7461620" y="0"/>
                </a:lnTo>
                <a:lnTo>
                  <a:pt x="7461620" y="4835365"/>
                </a:lnTo>
                <a:lnTo>
                  <a:pt x="0" y="4835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04039" y="2951050"/>
            <a:ext cx="6909687" cy="5832673"/>
            <a:chOff x="0" y="0"/>
            <a:chExt cx="9212916" cy="777689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9212916" cy="115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6"/>
                </a:lnSpc>
              </a:pPr>
              <a:r>
                <a:rPr lang="en-US" sz="2690" b="true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INCLUYE</a:t>
              </a:r>
            </a:p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64541"/>
              <a:ext cx="9212916" cy="6612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5739" indent="-217869" lvl="1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Registro e inicio de sesión de pacientes y médicos.</a:t>
              </a:r>
            </a:p>
            <a:p>
              <a:pPr algn="l">
                <a:lnSpc>
                  <a:spcPts val="3047"/>
                </a:lnSpc>
              </a:pPr>
            </a:p>
            <a:p>
              <a:pPr algn="l" marL="435739" indent="-217869" lvl="1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Carga de fotografías y documentos PDF.</a:t>
              </a:r>
            </a:p>
            <a:p>
              <a:pPr algn="l">
                <a:lnSpc>
                  <a:spcPts val="3047"/>
                </a:lnSpc>
              </a:pPr>
            </a:p>
            <a:p>
              <a:pPr algn="l" marL="435739" indent="-217869" lvl="1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Extracción asistida de datos mediante OCR e IA.</a:t>
              </a:r>
            </a:p>
            <a:p>
              <a:pPr algn="l">
                <a:lnSpc>
                  <a:spcPts val="3047"/>
                </a:lnSpc>
              </a:pPr>
            </a:p>
            <a:p>
              <a:pPr algn="l" marL="435739" indent="-217869" lvl="1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Rev</a:t>
              </a: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isión y corrección de los datos por el paciente antes de guardarlos.</a:t>
              </a:r>
            </a:p>
            <a:p>
              <a:pPr algn="l">
                <a:lnSpc>
                  <a:spcPts val="3047"/>
                </a:lnSpc>
              </a:pPr>
            </a:p>
            <a:p>
              <a:pPr algn="l" marL="435739" indent="-217869" lvl="1">
                <a:lnSpc>
                  <a:spcPts val="3047"/>
                </a:lnSpc>
                <a:buFont typeface="Arial"/>
                <a:buChar char="•"/>
              </a:pPr>
              <a:r>
                <a:rPr lang="en-US" sz="2018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Consulta de documentos, resumen de la ficha y accesos temporales para médicos mediante selección directa o QR.</a:t>
              </a:r>
            </a:p>
            <a:p>
              <a:pPr algn="l">
                <a:lnSpc>
                  <a:spcPts val="304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01902" y="574373"/>
            <a:ext cx="7930692" cy="1201923"/>
            <a:chOff x="0" y="0"/>
            <a:chExt cx="10574256" cy="160256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14300"/>
              <a:ext cx="10574256" cy="921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ALCANCE DEL PROYECTO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5726"/>
              <a:ext cx="7587025" cy="526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01902" y="1339965"/>
            <a:ext cx="5192316" cy="124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  <a:spcBef>
                <a:spcPct val="0"/>
              </a:spcBef>
            </a:pPr>
            <a:r>
              <a:rPr lang="en-US" b="true" sz="259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¿Qué incluye nue</a:t>
            </a:r>
            <a:r>
              <a:rPr lang="en-US" b="true" sz="259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stro prototipo?</a:t>
            </a:r>
          </a:p>
          <a:p>
            <a:pPr algn="l">
              <a:lnSpc>
                <a:spcPts val="3135"/>
              </a:lnSpc>
              <a:spcBef>
                <a:spcPct val="0"/>
              </a:spcBef>
            </a:pPr>
          </a:p>
          <a:p>
            <a:pPr algn="l">
              <a:lnSpc>
                <a:spcPts val="31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8" t="-3157" r="-1621" b="-315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672349" y="4566734"/>
            <a:ext cx="0" cy="133155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>
            <a:off x="15595197" y="4566734"/>
            <a:ext cx="28" cy="133155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 flipH="true">
            <a:off x="9145268" y="4588420"/>
            <a:ext cx="0" cy="130987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 flipV="true">
            <a:off x="2620040" y="4607470"/>
            <a:ext cx="12975157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9130298" y="3739956"/>
            <a:ext cx="10889" cy="101375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43684" y="1028700"/>
            <a:ext cx="2544645" cy="2544645"/>
          </a:xfrm>
          <a:custGeom>
            <a:avLst/>
            <a:gdLst/>
            <a:ahLst/>
            <a:cxnLst/>
            <a:rect r="r" b="b" t="t" l="l"/>
            <a:pathLst>
              <a:path h="2544645" w="2544645">
                <a:moveTo>
                  <a:pt x="0" y="0"/>
                </a:moveTo>
                <a:lnTo>
                  <a:pt x="2544645" y="0"/>
                </a:lnTo>
                <a:lnTo>
                  <a:pt x="2544645" y="2544645"/>
                </a:lnTo>
                <a:lnTo>
                  <a:pt x="0" y="2544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42030" y="132744"/>
            <a:ext cx="4892007" cy="4308853"/>
          </a:xfrm>
          <a:custGeom>
            <a:avLst/>
            <a:gdLst/>
            <a:ahLst/>
            <a:cxnLst/>
            <a:rect r="r" b="b" t="t" l="l"/>
            <a:pathLst>
              <a:path h="4308853" w="4892007">
                <a:moveTo>
                  <a:pt x="0" y="0"/>
                </a:moveTo>
                <a:lnTo>
                  <a:pt x="4892006" y="0"/>
                </a:lnTo>
                <a:lnTo>
                  <a:pt x="4892006" y="4308853"/>
                </a:lnTo>
                <a:lnTo>
                  <a:pt x="0" y="4308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3829" y="6170393"/>
            <a:ext cx="4274713" cy="3065527"/>
            <a:chOff x="0" y="0"/>
            <a:chExt cx="5699617" cy="408736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85725"/>
              <a:ext cx="5080000" cy="1299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29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Product Owner (Ariel Velásquez)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9859" y="1429260"/>
              <a:ext cx="5529758" cy="2658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29"/>
                </a:lnSpc>
                <a:spcBef>
                  <a:spcPct val="0"/>
                </a:spcBef>
              </a:pPr>
              <a:r>
                <a:rPr lang="en-US" sz="1741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Responsable de la visión del producto. Se encargará de gestionar el Product Backlog, priorizar los requerimientos que entreguen mayor valor al paciente y validar los incrementos entregados en cada Sprint.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42172" y="6186317"/>
            <a:ext cx="4365444" cy="2988812"/>
            <a:chOff x="0" y="0"/>
            <a:chExt cx="5820592" cy="398508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48626" y="-85725"/>
              <a:ext cx="5077461" cy="1299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29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Scrum Master (Sergio Vera)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525897"/>
              <a:ext cx="5820592" cy="2459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Encargad</a:t>
              </a:r>
              <a:r>
                <a:rPr lang="en-US" sz="1599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 de asegurar el cumplimiento de los principios ágiles. Facilitará las ceremonias de Scrum (Dailies, Plannings, Retrospectives) y actuará como escudo protector para eliminar bloqueos técnicos u operativos del equipo.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15890" y="6170393"/>
            <a:ext cx="4418147" cy="2644056"/>
            <a:chOff x="0" y="0"/>
            <a:chExt cx="5890862" cy="352540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85725"/>
              <a:ext cx="5077461" cy="1299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29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Developer Principal (Ignacio Ruiz)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22533"/>
              <a:ext cx="5890862" cy="1902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3"/>
                </a:lnSpc>
                <a:spcBef>
                  <a:spcPct val="0"/>
                </a:spcBef>
              </a:pPr>
              <a:r>
                <a:rPr lang="en-US" sz="1856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</a:t>
              </a:r>
              <a:r>
                <a:rPr lang="en-US" sz="1856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esponsable del liderazgo técnico. Encargado de la definición inicial del código, diseño de la arquitectura y la base de datos.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192611" y="964478"/>
            <a:ext cx="6415005" cy="65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7"/>
              </a:lnSpc>
              <a:spcBef>
                <a:spcPct val="0"/>
              </a:spcBef>
            </a:pPr>
            <a:r>
              <a:rPr lang="en-US" b="true" sz="37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Metodología Ágil (Scrum)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30790" y="1674809"/>
            <a:ext cx="8394278" cy="156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El desa</a:t>
            </a:r>
            <a:r>
              <a:rPr lang="en-US" sz="1999" strike="noStrike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rrollo se gestiono mediante la metodología Scrum con iteraciones (Sprints) semanales, permitiendo adaptación temprana a cambios, entregas continuas de software funcional y un control riguroso de los tiempos durante las 18 semanas del proyecto.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8" t="-3157" r="-1621" b="-3157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377495" y="2440392"/>
          <a:ext cx="3771900" cy="4400550"/>
        </p:xfrm>
        <a:graphic>
          <a:graphicData uri="http://schemas.openxmlformats.org/presentationml/2006/ole">
            <p:oleObj imgW="4648200" imgH="5270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936497" y="557387"/>
            <a:ext cx="6415005" cy="121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7"/>
              </a:lnSpc>
              <a:spcBef>
                <a:spcPct val="0"/>
              </a:spcBef>
            </a:pPr>
            <a:r>
              <a:rPr lang="en-US" b="true" sz="37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¿Como aplicamos esta metodologia?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8" t="-3157" r="-1621" b="-3157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225886" y="1572516"/>
          <a:ext cx="15769565" cy="6869027"/>
        </p:xfrm>
        <a:graphic>
          <a:graphicData uri="http://schemas.openxmlformats.org/presentationml/2006/ole">
            <p:oleObj imgW="18923000" imgH="100203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936497" y="368824"/>
            <a:ext cx="6415005" cy="65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7"/>
              </a:lnSpc>
              <a:spcBef>
                <a:spcPct val="0"/>
              </a:spcBef>
            </a:pPr>
            <a:r>
              <a:rPr lang="en-US" b="true" sz="37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PLAN DE TRABAJO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30" t="-3685" r="-2125" b="-307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043" y="1276394"/>
            <a:ext cx="7048997" cy="10432369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8056425" y="1981459"/>
            <a:ext cx="9519701" cy="6625879"/>
            <a:chOff x="0" y="0"/>
            <a:chExt cx="12692935" cy="883450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12692935" cy="612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6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23429"/>
              <a:ext cx="12692935" cy="8211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MyMedRecord nace como una respuesta concreta a la fragmentación de la información clínica en Chile, un problema que afecta directamente la calidad de vida de los pacientes y la eficiencia del sistema de salud.</a:t>
              </a:r>
            </a:p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través de la integración de tecnologías de vanguardia como la Inteligencia Artificial (OCR + LLM), el proyecto demuestra que es posible:</a:t>
              </a:r>
            </a:p>
            <a:p>
              <a:pPr algn="l" marL="435738" indent="-217869" lvl="1">
                <a:lnSpc>
                  <a:spcPts val="304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Ayudar al paciente, devolviéndole el control sobre su historial médico</a:t>
              </a:r>
            </a:p>
            <a:p>
              <a:pPr algn="l" marL="435738" indent="-217869" lvl="1">
                <a:lnSpc>
                  <a:spcPts val="304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Centralizar información dispersa de múltiples instituciones</a:t>
              </a:r>
            </a:p>
            <a:p>
              <a:pPr algn="l" marL="435738" indent="-217869" lvl="1">
                <a:lnSpc>
                  <a:spcPts val="304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Digitalizar documentos físicos de forma automatizada y estructurada</a:t>
              </a:r>
            </a:p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El enfoque realista y acotado del MVP, sumado a una metodología ágil (Scrum) y un equipo multidisciplinario, garantiza la viabilidad técnica y temporal del proyecto</a:t>
              </a:r>
            </a:p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  <a:r>
                <a:rPr lang="en-US" sz="2018" strike="noStrike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MyMedRecord no es solo una aplicación; es una solución con impacto social, alineada con las políticas de interoperabilidad del sistema de salud chileno </a:t>
              </a:r>
            </a:p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0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50566" y="571149"/>
            <a:ext cx="4774183" cy="1171178"/>
            <a:chOff x="0" y="0"/>
            <a:chExt cx="6365577" cy="156157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33350"/>
              <a:ext cx="6365577" cy="1096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5676"/>
                </a:lnSpc>
                <a:spcBef>
                  <a:spcPct val="0"/>
                </a:spcBef>
              </a:pPr>
              <a:r>
                <a:rPr lang="en-US" b="true" sz="477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CONCLUSÍON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73005"/>
              <a:ext cx="6365577" cy="388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6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0" t="-2488" r="-2335" b="-19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17522" y="4410075"/>
            <a:ext cx="802596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DAHTnTYsL9Y</dc:identifier>
  <dcterms:modified xsi:type="dcterms:W3CDTF">2011-08-01T06:04:30Z</dcterms:modified>
  <cp:revision>1</cp:revision>
  <dc:title>PROYECTO TITULO MyMedRecord</dc:title>
</cp:coreProperties>
</file>